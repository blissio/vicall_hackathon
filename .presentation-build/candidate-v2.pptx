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8fb6888114f4b5c" /><Relationship Type="http://schemas.openxmlformats.org/officeDocument/2006/relationships/extended-properties" Target="/docProps/app.xml" Id="R9dfba31c1e924975" /><Relationship Type="http://schemas.openxmlformats.org/officeDocument/2006/relationships/officeDocument" Target="/ppt/presentation.xml" Id="R7e06aee0c3d748bd" /></Relationships>
</file>

<file path=ppt/presentation.xml><?xml version="1.0" encoding="utf-8"?>
<p:presentation xmlns:p="http://schemas.openxmlformats.org/presentationml/2006/main">
  <p:sldMasterIdLst>
    <p:sldMasterId xmlns:r="http://schemas.openxmlformats.org/officeDocument/2006/relationships" id="2147483648" r:id="Rf062365f0b734b43"/>
  </p:sldMasterIdLst>
  <p:notesMasterIdLst>
    <p:notesMasterId xmlns:r="http://schemas.openxmlformats.org/officeDocument/2006/relationships" r:id="R05c8e4d393ea4be4"/>
  </p:notesMasterIdLst>
  <p:sldIdLst>
    <p:sldId xmlns:r="http://schemas.openxmlformats.org/officeDocument/2006/relationships" id="256" r:id="R97077feed2ab4f8e"/>
    <p:sldId xmlns:r="http://schemas.openxmlformats.org/officeDocument/2006/relationships" id="257" r:id="Rb47c969d816e48c1"/>
    <p:sldId xmlns:r="http://schemas.openxmlformats.org/officeDocument/2006/relationships" id="258" r:id="R9e8be646fa3b4f8c"/>
    <p:sldId xmlns:r="http://schemas.openxmlformats.org/officeDocument/2006/relationships" id="259" r:id="Rb18274b7ae204787"/>
    <p:sldId xmlns:r="http://schemas.openxmlformats.org/officeDocument/2006/relationships" id="260" r:id="R95c1b5d46ddc48f4"/>
    <p:sldId xmlns:r="http://schemas.openxmlformats.org/officeDocument/2006/relationships" id="261" r:id="R17f7f008b5464c95"/>
    <p:sldId xmlns:r="http://schemas.openxmlformats.org/officeDocument/2006/relationships" id="262" r:id="R73bb51fdadc14a3e"/>
    <p:sldId xmlns:r="http://schemas.openxmlformats.org/officeDocument/2006/relationships" id="263" r:id="Rae33b6e3d44d4b82"/>
    <p:sldId xmlns:r="http://schemas.openxmlformats.org/officeDocument/2006/relationships" id="264" r:id="R4aea1a965fca48a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4708caf5fd24fba" /><Relationship Type="http://schemas.openxmlformats.org/officeDocument/2006/relationships/slideMaster" Target="/ppt/slideMasters/slideMaster1.xml" Id="Rf062365f0b734b43" /><Relationship Type="http://schemas.openxmlformats.org/officeDocument/2006/relationships/notesMaster" Target="/ppt/notesMasters/notesMaster1.xml" Id="R05c8e4d393ea4be4" /><Relationship Type="http://schemas.openxmlformats.org/officeDocument/2006/relationships/presProps" Target="/ppt/presProps.xml" Id="R691c90652bbe4312" /><Relationship Type="http://schemas.openxmlformats.org/officeDocument/2006/relationships/tableStyles" Target="/ppt/tableStyles.xml" Id="R99ed03448cc949ec" /><Relationship Type="http://schemas.openxmlformats.org/officeDocument/2006/relationships/slide" Target="/ppt/slides/slide1.xml" Id="R97077feed2ab4f8e" /><Relationship Type="http://schemas.openxmlformats.org/officeDocument/2006/relationships/slide" Target="/ppt/slides/slide2.xml" Id="Rb47c969d816e48c1" /><Relationship Type="http://schemas.openxmlformats.org/officeDocument/2006/relationships/slide" Target="/ppt/slides/slide3.xml" Id="R9e8be646fa3b4f8c" /><Relationship Type="http://schemas.openxmlformats.org/officeDocument/2006/relationships/slide" Target="/ppt/slides/slide4.xml" Id="Rb18274b7ae204787" /><Relationship Type="http://schemas.openxmlformats.org/officeDocument/2006/relationships/slide" Target="/ppt/slides/slide5.xml" Id="R95c1b5d46ddc48f4" /><Relationship Type="http://schemas.openxmlformats.org/officeDocument/2006/relationships/slide" Target="/ppt/slides/slide6.xml" Id="R17f7f008b5464c95" /><Relationship Type="http://schemas.openxmlformats.org/officeDocument/2006/relationships/slide" Target="/ppt/slides/slide7.xml" Id="R73bb51fdadc14a3e" /><Relationship Type="http://schemas.openxmlformats.org/officeDocument/2006/relationships/slide" Target="/ppt/slides/slide8.xml" Id="Rae33b6e3d44d4b82" /><Relationship Type="http://schemas.openxmlformats.org/officeDocument/2006/relationships/slide" Target="/ppt/slides/slide9.xml" Id="R4aea1a965fca48a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3ac527894064d1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7b357b8083491f" /><Relationship Type="http://schemas.openxmlformats.org/officeDocument/2006/relationships/notesMaster" Target="/ppt/notesMasters/notesMaster1.xml" Id="Re0f33f6dea7448e4"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704f313f114710" /><Relationship Type="http://schemas.openxmlformats.org/officeDocument/2006/relationships/notesMaster" Target="/ppt/notesMasters/notesMaster1.xml" Id="R4f5b2b741e6645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6e4dc698a4fc4af3" /><Relationship Type="http://schemas.openxmlformats.org/officeDocument/2006/relationships/notesMaster" Target="/ppt/notesMasters/notesMaster1.xml" Id="R6b455499d8164e41" /></Relationships>
</file>

<file path=ppt/notesSlides/_rels/notesSlide4.xml.rels>&#65279;<?xml version="1.0" encoding="utf-8"?><Relationships xmlns="http://schemas.openxmlformats.org/package/2006/relationships"><Relationship Type="http://schemas.openxmlformats.org/officeDocument/2006/relationships/slide" Target="/ppt/slides/slide4.xml" Id="Rbd00270f9030439e" /><Relationship Type="http://schemas.openxmlformats.org/officeDocument/2006/relationships/notesMaster" Target="/ppt/notesMasters/notesMaster1.xml" Id="R823ae37c5a144f83" /></Relationships>
</file>

<file path=ppt/notesSlides/_rels/notesSlide5.xml.rels>&#65279;<?xml version="1.0" encoding="utf-8"?><Relationships xmlns="http://schemas.openxmlformats.org/package/2006/relationships"><Relationship Type="http://schemas.openxmlformats.org/officeDocument/2006/relationships/slide" Target="/ppt/slides/slide5.xml" Id="Rf5971e18e5114f3e" /><Relationship Type="http://schemas.openxmlformats.org/officeDocument/2006/relationships/notesMaster" Target="/ppt/notesMasters/notesMaster1.xml" Id="R5088b2dc56e043d0" /></Relationships>
</file>

<file path=ppt/notesSlides/_rels/notesSlide6.xml.rels>&#65279;<?xml version="1.0" encoding="utf-8"?><Relationships xmlns="http://schemas.openxmlformats.org/package/2006/relationships"><Relationship Type="http://schemas.openxmlformats.org/officeDocument/2006/relationships/slide" Target="/ppt/slides/slide6.xml" Id="Re793761dcf6e46e1" /><Relationship Type="http://schemas.openxmlformats.org/officeDocument/2006/relationships/notesMaster" Target="/ppt/notesMasters/notesMaster1.xml" Id="R2bf15cf66e534d37" /></Relationships>
</file>

<file path=ppt/notesSlides/_rels/notesSlide7.xml.rels>&#65279;<?xml version="1.0" encoding="utf-8"?><Relationships xmlns="http://schemas.openxmlformats.org/package/2006/relationships"><Relationship Type="http://schemas.openxmlformats.org/officeDocument/2006/relationships/slide" Target="/ppt/slides/slide7.xml" Id="Rdee1e5d7a01548be" /><Relationship Type="http://schemas.openxmlformats.org/officeDocument/2006/relationships/notesMaster" Target="/ppt/notesMasters/notesMaster1.xml" Id="R82b3d201a3694d0f" /></Relationships>
</file>

<file path=ppt/notesSlides/_rels/notesSlide8.xml.rels>&#65279;<?xml version="1.0" encoding="utf-8"?><Relationships xmlns="http://schemas.openxmlformats.org/package/2006/relationships"><Relationship Type="http://schemas.openxmlformats.org/officeDocument/2006/relationships/slide" Target="/ppt/slides/slide8.xml" Id="Re09aacd1ed404aa4" /><Relationship Type="http://schemas.openxmlformats.org/officeDocument/2006/relationships/notesMaster" Target="/ppt/notesMasters/notesMaster1.xml" Id="Rd4d62352aba5434c" /></Relationships>
</file>

<file path=ppt/notesSlides/_rels/notesSlide9.xml.rels>&#65279;<?xml version="1.0" encoding="utf-8"?><Relationships xmlns="http://schemas.openxmlformats.org/package/2006/relationships"><Relationship Type="http://schemas.openxmlformats.org/officeDocument/2006/relationships/slide" Target="/ppt/slides/slide9.xml" Id="R2fc2be2f12f742e6" /><Relationship Type="http://schemas.openxmlformats.org/officeDocument/2006/relationships/notesMaster" Target="/ppt/notesMasters/notesMaster1.xml" Id="Re8b7c9ab740941d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a:t>
            </a:r>
          </a:p>
          <a:p xmlns:a="http://schemas.openxmlformats.org/drawingml/2006/main">
            <a:r>
              <a:t/>
            </a:r>
          </a:p>
          <a:p xmlns:a="http://schemas.openxmlformats.org/drawingml/2006/main">
            <a:r>
              <a:t>Introduce the team, then move directly into the challenge.</a:t>
            </a:r>
          </a:p>
          <a:p xmlns:a="http://schemas.openxmlformats.org/drawingml/2006/main">
            <a:r>
              <a:t/>
            </a:r>
          </a:p>
          <a:p xmlns:a="http://schemas.openxmlformats.org/drawingml/2006/main">
            <a:r>
              <a:t>A local business can offer an excellent service and still be difficult to discover. Pittsburgh IQ gives people a place to research local organizations and decide what to investigate next. We are Rayane El Yasti, Oleg Hartman, Alexander Kearney, and Noah White, from Duquesne University.</a:t>
            </a:r>
          </a:p>
          <a:p xmlns:a="http://schemas.openxmlformats.org/drawingml/2006/main">
            <a:r>
              <a:t/>
            </a:r>
          </a:p>
          <a:p xmlns:a="http://schemas.openxmlformats.org/drawingml/2006/main">
            <a:r>
              <a:t>Sources and claim boundaries:</a:t>
            </a:r>
          </a:p>
          <a:p xmlns:a="http://schemas.openxmlformats.org/drawingml/2006/main">
            <a:r>
              <a:t>Team names from the supplied reference deck. Challenge 3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a:t>
            </a:r>
          </a:p>
          <a:p xmlns:a="http://schemas.openxmlformats.org/drawingml/2006/main">
            <a:r>
              <a:t/>
            </a:r>
          </a:p>
          <a:p xmlns:a="http://schemas.openxmlformats.org/drawingml/2006/main">
            <a:r>
              <a:t>State the brief clearly. Connect discovery to a real business decision.</a:t>
            </a:r>
          </a:p>
          <a:p xmlns:a="http://schemas.openxmlformats.org/drawingml/2006/main">
            <a:r>
              <a:t/>
            </a:r>
          </a:p>
          <a:p xmlns:a="http://schemas.openxmlformats.org/drawingml/2006/main">
            <a:r>
              <a:t>The challenge asked us to use AI to turn scattered local business information into actionable research. For Vicall, that means finding organizations that could benefit from website and SEO services. The broader opportunity includes finding suppliers and business partners. Our response combines a searchable directory with a research assistant. The question guiding the product is simple: what does someone need to know before starting a useful business conversation?</a:t>
            </a:r>
          </a:p>
          <a:p xmlns:a="http://schemas.openxmlformats.org/drawingml/2006/main">
            <a:r>
              <a:t/>
            </a:r>
          </a:p>
          <a:p xmlns:a="http://schemas.openxmlformats.org/drawingml/2006/main">
            <a:r>
              <a:t>Sources and claim boundaries:</a:t>
            </a:r>
          </a:p>
          <a:p xmlns:a="http://schemas.openxmlformats.org/drawingml/2006/main">
            <a:r>
              <a:t>Hackathon Plan_Info Sheet.txt, Challenge 3. Client requirements include professional offices, school districts, browser access and wider buying and selling use cases.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a:t>
            </a:r>
          </a:p>
          <a:p xmlns:a="http://schemas.openxmlformats.org/drawingml/2006/main">
            <a:r>
              <a:t/>
            </a:r>
          </a:p>
          <a:p xmlns:a="http://schemas.openxmlformats.org/drawingml/2006/main">
            <a:r>
              <a:t>Tell this as an illustrative scenario, not an actual customer story.</a:t>
            </a:r>
          </a:p>
          <a:p xmlns:a="http://schemas.openxmlformats.org/drawingml/2006/main">
            <a:r>
              <a:t/>
            </a:r>
          </a:p>
          <a:p xmlns:a="http://schemas.openxmlformats.org/drawingml/2006/main">
            <a:r>
              <a:t>Picture a small digital agency looking for its next customer. It finds a local office, opens the website, searches for a contact, and writes down a possible issue. Then someone asks: where did that information come from? Is it current? Has a teammate checked it already? A list of names cannot answer those questions. Our product keeps the organization, its evidence, and the next research step together, so the next person can continue the investigation.</a:t>
            </a:r>
          </a:p>
          <a:p xmlns:a="http://schemas.openxmlformats.org/drawingml/2006/main">
            <a:r>
              <a:t/>
            </a:r>
          </a:p>
          <a:p xmlns:a="http://schemas.openxmlformats.org/drawingml/2006/main">
            <a:r>
              <a:t>Sources and claim boundaries:</a:t>
            </a:r>
          </a:p>
          <a:p xmlns:a="http://schemas.openxmlformats.org/drawingml/2006/main">
            <a:r>
              <a:t>Illustrative agency scenario, not a reported customer outcome. Persistent evidence and research workflow documented in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a:t>
            </a:r>
          </a:p>
          <a:p xmlns:a="http://schemas.openxmlformats.org/drawingml/2006/main">
            <a:r>
              <a:t/>
            </a:r>
          </a:p>
          <a:p xmlns:a="http://schemas.openxmlformats.org/drawingml/2006/main">
            <a:r>
              <a:t>Point to the screenshot, then the figures. Do not read every label.</a:t>
            </a:r>
          </a:p>
          <a:p xmlns:a="http://schemas.openxmlformats.org/drawingml/2006/main">
            <a:r>
              <a:t/>
            </a:r>
          </a:p>
          <a:p xmlns:a="http://schemas.openxmlformats.org/drawingml/2006/main">
            <a:r>
              <a:t>The story starts with a working directory of 2,603 Pittsburgh business candidates. Our saved snapshot includes 1,059 listed websites and 146 email contacts. A researcher can narrow that starting point by neighborhood, category, and available information. These are public listings that still need review. An empty website field is a gap in our data, rather than proof that a business has no website. The directory gives the agency a research starting point, with uncertainty visible from the beginning.</a:t>
            </a:r>
          </a:p>
          <a:p xmlns:a="http://schemas.openxmlformats.org/drawingml/2006/main">
            <a:r>
              <a:t/>
            </a:r>
          </a:p>
          <a:p xmlns:a="http://schemas.openxmlformats.org/drawingml/2006/main">
            <a:r>
              <a:t>Sources and claim boundaries:</a:t>
            </a:r>
          </a:p>
          <a:p xmlns:a="http://schemas.openxmlformats.org/drawingml/2006/main">
            <a:r>
              <a:t>docs/presentation-screenshots/01-business-directory.jpg and 06-data-coverage.jpg. October 14, 2026 OSM snapshot. Counts describe unverified listings.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a:t>
            </a:r>
          </a:p>
          <a:p xmlns:a="http://schemas.openxmlformats.org/drawingml/2006/main">
            <a:r>
              <a:t/>
            </a:r>
          </a:p>
          <a:p xmlns:a="http://schemas.openxmlformats.org/drawingml/2006/main">
            <a:r>
              <a:t>Point to the result and its dated references.</a:t>
            </a:r>
          </a:p>
          <a:p xmlns:a="http://schemas.openxmlformats.org/drawingml/2006/main">
            <a:r>
              <a:t/>
            </a:r>
          </a:p>
          <a:p xmlns:a="http://schemas.openxmlformats.org/drawingml/2006/main">
            <a:r>
              <a:t>Now the researcher asks a question. In this captured example, a search for legal services returned 22 candidates using saved evidence, with no new external page requests. A result includes public contact references, source links, and observation dates. The purpose can change from finding a provider to researching prospects or partners. The system also identifies gaps, such as an unreviewed decision-maker role. That makes follow-up research specific, and gives a teammate something they can check.</a:t>
            </a:r>
          </a:p>
          <a:p xmlns:a="http://schemas.openxmlformats.org/drawingml/2006/main">
            <a:r>
              <a:t/>
            </a:r>
          </a:p>
          <a:p xmlns:a="http://schemas.openxmlformats.org/drawingml/2006/main">
            <a:r>
              <a:t>Sources and claim boundaries:</a:t>
            </a:r>
          </a:p>
          <a:p xmlns:a="http://schemas.openxmlformats.org/drawingml/2006/main">
            <a:r>
              <a:t>docs/presentation-screenshots/04-sourced-research-result.jpg. Legal-provider example, not evidence of an actual sales opportunity. Reference IDs and dates support inspection, not guaranteed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a:t>
            </a:r>
          </a:p>
          <a:p xmlns:a="http://schemas.openxmlformats.org/drawingml/2006/main">
            <a:r>
              <a:t/>
            </a:r>
          </a:p>
          <a:p xmlns:a="http://schemas.openxmlformats.org/drawingml/2006/main">
            <a:r>
              <a:t>Show the saved check, then explain what the agency can do next.</a:t>
            </a:r>
          </a:p>
          <a:p xmlns:a="http://schemas.openxmlformats.org/drawingml/2006/main">
            <a:r>
              <a:t/>
            </a:r>
          </a:p>
          <a:p xmlns:a="http://schemas.openxmlformats.org/drawingml/2006/main">
            <a:r>
              <a:t>For the agency, the next step is website research. Website Lab saves the URL, response, observation time, and technical findings. A missing heading, for example, creates a concrete question to investigate before outreach. Failed or blocked requests remain inconclusive. The score describes a static technical checklist and does not measure Google rankings. The researcher can then save notes, organize a shortlist, and export the findings. The intended value is less repeated searching and a better prepared conversation. A client pilot still needs to measure that value.</a:t>
            </a:r>
          </a:p>
          <a:p xmlns:a="http://schemas.openxmlformats.org/drawingml/2006/main">
            <a:r>
              <a:t/>
            </a:r>
          </a:p>
          <a:p xmlns:a="http://schemas.openxmlformats.org/drawingml/2006/main">
            <a:r>
              <a:t>Sources and claim boundaries:</a:t>
            </a:r>
          </a:p>
          <a:p xmlns:a="http://schemas.openxmlformats.org/drawingml/2006/main">
            <a:r>
              <a:t>docs/presentation-screenshots/08-website-audit-detail.jpg. Actual Size static check, HTTP 200, score 80. README.md for notes, shortlist and export functionality. Time savings and business outcomes remain hypotheses.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a:t>
            </a:r>
          </a:p>
          <a:p xmlns:a="http://schemas.openxmlformats.org/drawingml/2006/main">
            <a:r>
              <a:t/>
            </a:r>
          </a:p>
          <a:p xmlns:a="http://schemas.openxmlformats.org/drawingml/2006/main">
            <a:r>
              <a:t>Explain the sequence without jargon. Keep the limitation brief and clear.</a:t>
            </a:r>
          </a:p>
          <a:p xmlns:a="http://schemas.openxmlformats.org/drawingml/2006/main">
            <a:r>
              <a:t/>
            </a:r>
          </a:p>
          <a:p xmlns:a="http://schemas.openxmlformats.org/drawingml/2006/main">
            <a:r>
              <a:t>The AI workflow begins with relevant saved records. Retrieval selects a focused evidence set, an optional model interprets it, and the application checks the references it returns. Users can inspect the sources behind the answer. We also tested a small local model on an eight-gigabyte laptop, with one response taking about twelve seconds. It misread part of the evidence, so local AI remains experimental. Checking citations helps trace an answer, while human review remains necessary to judge its meaning.</a:t>
            </a:r>
          </a:p>
          <a:p xmlns:a="http://schemas.openxmlformats.org/drawingml/2006/main">
            <a:r>
              <a:t/>
            </a:r>
          </a:p>
          <a:p xmlns:a="http://schemas.openxmlformats.org/drawingml/2006/main">
            <a:r>
              <a:t>Sources and claim boundaries:</a:t>
            </a:r>
          </a:p>
          <a:p xmlns:a="http://schemas.openxmlformats.org/drawingml/2006/main">
            <a:r>
              <a:t>intelligence.py retrieval, planning, generation and reference validation. Local Qwen2.5-0.5B Q4 test: 11656 ms including load, fictional evidence, observed misinterpretation. Cloud mode implemented but not live-tested in this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a:t>
            </a:r>
          </a:p>
          <a:p xmlns:a="http://schemas.openxmlformats.org/drawingml/2006/main">
            <a:r>
              <a:t/>
            </a:r>
          </a:p>
          <a:p xmlns:a="http://schemas.openxmlformats.org/drawingml/2006/main">
            <a:r>
              <a:t>Emphasize what the test measured and keep the boundary clear.</a:t>
            </a:r>
          </a:p>
          <a:p xmlns:a="http://schemas.openxmlformats.org/drawingml/2006/main">
            <a:r>
              <a:t/>
            </a:r>
          </a:p>
          <a:p xmlns:a="http://schemas.openxmlformats.org/drawingml/2006/main">
            <a:r>
              <a:t>We evaluated retrieval with four synthetic scenarios. All four returned the exact expected result sets. In the office-prospect scenario, the system selected 2,549 context characters from a full set of 14,897. That is about 83 percent less text for the model to consider. This measures the retrieval mechanism on a small fictional test set. It does not establish real-world prospect quality or token savings. Our next benchmark will use client-reviewed organizations and measure relevance alongside actual research time.</a:t>
            </a:r>
          </a:p>
          <a:p xmlns:a="http://schemas.openxmlformats.org/drawingml/2006/main">
            <a:r>
              <a:t/>
            </a:r>
          </a:p>
          <a:p xmlns:a="http://schemas.openxmlformats.org/drawingml/2006/main">
            <a:r>
              <a:t>Sources and claim boundaries:</a:t>
            </a:r>
          </a:p>
          <a:p xmlns:a="http://schemas.openxmlformats.org/drawingml/2006/main">
            <a:r>
              <a:t>docs/evaluation.json: exact_set_matches 4/4. Office-prospect case 2549 versus 14897 characters, 82.889% reduction. Synthetic evaluation had no model 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a:t>
            </a:r>
          </a:p>
          <a:p xmlns:a="http://schemas.openxmlformats.org/drawingml/2006/main">
            <a:r>
              <a:t/>
            </a:r>
          </a:p>
          <a:p xmlns:a="http://schemas.openxmlformats.org/drawingml/2006/main">
            <a:r>
              <a:t>Return to the agency story and finish cleanly.</a:t>
            </a:r>
          </a:p>
          <a:p xmlns:a="http://schemas.openxmlformats.org/drawingml/2006/main">
            <a:r>
              <a:t/>
            </a:r>
          </a:p>
          <a:p xmlns:a="http://schemas.openxmlformats.org/drawingml/2006/main">
            <a:r>
              <a:t>The agency now has a place to find organizations, inspect evidence, and keep what it learns. SQLite storage, backups, resumable jobs, and an API provide foundations for continued use. Next comes a focused pilot with twenty offices and school districts. Pittsburgh IQ turns a starting list into research that the next person can continue, helping local businesses prepare for better conversations.</a:t>
            </a:r>
          </a:p>
          <a:p xmlns:a="http://schemas.openxmlformats.org/drawingml/2006/main">
            <a:r>
              <a:t/>
            </a:r>
          </a:p>
          <a:p xmlns:a="http://schemas.openxmlformats.org/drawingml/2006/main">
            <a:r>
              <a:t>Sources and claim boundaries:</a:t>
            </a:r>
          </a:p>
          <a:p xmlns:a="http://schemas.openxmlformats.org/drawingml/2006/main">
            <a:r>
              <a:t>README.md and docs/implementation-status.md. Proposed pilot, not an existing commitment. Public deployment and larger-scale validation remain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0d71be6590449a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c972c3cc1b745a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e383308b62547e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a6f01f22cf34db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a4e613f052e466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0df46eaad144f4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2D41A4-7EDA-4211-95F9-56AD7A57936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C1CD3F9-532B-4A85-B186-4AA1080CADD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58FE864-A41F-4322-9826-6E295603D55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7857666-4FED-475A-9299-AEFA6027317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3B0CE27-0544-40FA-B911-224CCE37944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B5FA88A-F480-4C60-99BA-BC3849C5B8F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58F732A-64CA-4898-97C7-E5E26272387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FB66DD2-359C-4F03-AB35-75C258C38F5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DD60F84-9DE2-43FA-B802-676280DE652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299647B-E801-4C0E-ADA2-664E362A217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dd77756d9d34049" /><Relationship Type="http://schemas.openxmlformats.org/officeDocument/2006/relationships/slideLayout" Target="/ppt/slideLayouts/slideLayout1.xml" Id="R1a9a4c53b5624cad" /><Relationship Type="http://schemas.openxmlformats.org/officeDocument/2006/relationships/slideLayout" Target="/ppt/slideLayouts/slideLayout2.xml" Id="R3bb39291e3df4205" /><Relationship Type="http://schemas.openxmlformats.org/officeDocument/2006/relationships/slideLayout" Target="/ppt/slideLayouts/slideLayout3.xml" Id="Re0e06b69eee8452b" /><Relationship Type="http://schemas.openxmlformats.org/officeDocument/2006/relationships/slideLayout" Target="/ppt/slideLayouts/slideLayout4.xml" Id="R24cba34958c34139" /><Relationship Type="http://schemas.openxmlformats.org/officeDocument/2006/relationships/slideLayout" Target="/ppt/slideLayouts/slideLayout5.xml" Id="R36b3003b6aea4f42" /><Relationship Type="http://schemas.openxmlformats.org/officeDocument/2006/relationships/slideLayout" Target="/ppt/slideLayouts/slideLayout6.xml" Id="R645ca0c7ad85492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a9a4c53b5624cad"/>
    <p:sldLayoutId xmlns:r="http://schemas.openxmlformats.org/officeDocument/2006/relationships" id="2147483650" r:id="R3bb39291e3df4205"/>
    <p:sldLayoutId xmlns:r="http://schemas.openxmlformats.org/officeDocument/2006/relationships" id="2147483651" r:id="Re0e06b69eee8452b"/>
    <p:sldLayoutId xmlns:r="http://schemas.openxmlformats.org/officeDocument/2006/relationships" id="2147483652" r:id="R24cba34958c34139"/>
    <p:sldLayoutId xmlns:r="http://schemas.openxmlformats.org/officeDocument/2006/relationships" id="2147483653" r:id="R36b3003b6aea4f42"/>
    <p:sldLayoutId xmlns:r="http://schemas.openxmlformats.org/officeDocument/2006/relationships" id="2147483654" r:id="R645ca0c7ad85492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d3f8073ccd44e79" /><Relationship Type="http://schemas.openxmlformats.org/officeDocument/2006/relationships/image" Target="/ppt/media/image.jpeg" Id="R3bce8671c0234d91" /><Relationship Type="http://schemas.openxmlformats.org/officeDocument/2006/relationships/notesSlide" Target="/ppt/notesSlides/notesSlide1.xml" Id="R6e128099986e4c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250ac98e654461e" /><Relationship Type="http://schemas.openxmlformats.org/officeDocument/2006/relationships/notesSlide" Target="/ppt/notesSlides/notesSlide2.xml" Id="R9f61a7cb9acf443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5b948417a4c484e" /><Relationship Type="http://schemas.openxmlformats.org/officeDocument/2006/relationships/notesSlide" Target="/ppt/notesSlides/notesSlide3.xml" Id="Rb15b48961b1d43e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a49f4eb8499436a" /><Relationship Type="http://schemas.openxmlformats.org/officeDocument/2006/relationships/image" Target="/ppt/media/image2.jpeg" Id="Rd7cbe42d8f674edc" /><Relationship Type="http://schemas.openxmlformats.org/officeDocument/2006/relationships/notesSlide" Target="/ppt/notesSlides/notesSlide4.xml" Id="R2ffa23ad69cb4b1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00ffc8cb01747d4" /><Relationship Type="http://schemas.openxmlformats.org/officeDocument/2006/relationships/image" Target="/ppt/media/image3.jpeg" Id="R2c7601a0821f4d78" /><Relationship Type="http://schemas.openxmlformats.org/officeDocument/2006/relationships/notesSlide" Target="/ppt/notesSlides/notesSlide5.xml" Id="R97c56c7433e84f5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2e673a735104634" /><Relationship Type="http://schemas.openxmlformats.org/officeDocument/2006/relationships/image" Target="/ppt/media/image4.jpeg" Id="R8db88db7fd84491c" /><Relationship Type="http://schemas.openxmlformats.org/officeDocument/2006/relationships/notesSlide" Target="/ppt/notesSlides/notesSlide6.xml" Id="R8432e60ce96f4ed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62d8acd3c0346f6" /><Relationship Type="http://schemas.openxmlformats.org/officeDocument/2006/relationships/notesSlide" Target="/ppt/notesSlides/notesSlide7.xml" Id="R293536495e7e476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c72ae69eafc4924" /><Relationship Type="http://schemas.openxmlformats.org/officeDocument/2006/relationships/notesSlide" Target="/ppt/notesSlides/notesSlide8.xml" Id="R20f9ed512c3a4f9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924ef91a9594c71" /><Relationship Type="http://schemas.openxmlformats.org/officeDocument/2006/relationships/notesSlide" Target="/ppt/notesSlides/notesSlide9.xml" Id="Rd6d2f09618e6448d" /></Relationships>
</file>

<file path=ppt/slides/slide1.xml><?xml version="1.0" encoding="utf-8"?>
<p:sld xmlns:p="http://schemas.openxmlformats.org/presentationml/2006/main">
  <p:cSld>
    <p:bg>
      <p:bgPr>
        <a:solidFill xmlns:a="http://schemas.openxmlformats.org/drawingml/2006/main">
          <a:srgbClr val="142F3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F2FC084-7068-454C-8795-C8D6E1AEFC35}"/>
              </a:ext>
            </a:extLst>
          </p:cNvPr>
          <p:cNvSpPr>
            <a:spLocks xmlns:a="http://schemas.openxmlformats.org/drawingml/2006/main" noGrp="1"/>
          </p:cNvSpPr>
          <p:nvPr/>
        </p:nvSpPr>
        <p:spPr>
          <a:xfrm xmlns:a="http://schemas.openxmlformats.org/drawingml/2006/main">
            <a:off x="609600" y="3143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70D1BB"/>
                </a:solidFill>
                <a:latin typeface="Arial"/>
                <a:ea typeface="Arial"/>
                <a:cs typeface="Arial"/>
              </a:defRPr>
            </a:defPPr>
          </a:lstStyle>
          <a:p xmlns:a="http://schemas.openxmlformats.org/drawingml/2006/main">
            <a:pPr>
              <a:defRPr sz="1350" b="1">
                <a:solidFill>
                  <a:srgbClr val="70D1BB"/>
                </a:solidFill>
                <a:latin typeface="Arial"/>
                <a:ea typeface="Arial"/>
                <a:cs typeface="Arial"/>
              </a:defRPr>
            </a:pPr>
            <a:r>
              <a:rPr sz="1350" b="1">
                <a:solidFill>
                  <a:srgbClr val="70D1BB"/>
                </a:solidFill>
                <a:latin typeface="Arial"/>
                <a:ea typeface="Arial"/>
                <a:cs typeface="Arial"/>
              </a:rPr>
              <a:t>PITTSBURGH IQ</a:t>
            </a:r>
          </a:p>
        </p:txBody>
      </p:sp>
      <p:sp>
        <p:nvSpPr>
          <p:cNvPr id="2" name="">
            <a:extLst xmlns:a="http://schemas.openxmlformats.org/drawingml/2006/main">
              <a:ext uri="{FF2B5EF4-FFF2-40B4-BE49-F238E27FC236}">
                <a16:creationId xmlns:a16="http://schemas.microsoft.com/office/drawing/2014/main" id="{CE7C50C7-5769-4C3F-8635-DD4655F0E206}"/>
              </a:ext>
            </a:extLst>
          </p:cNvPr>
          <p:cNvSpPr>
            <a:spLocks xmlns:a="http://schemas.openxmlformats.org/drawingml/2006/main" noGrp="1"/>
          </p:cNvSpPr>
          <p:nvPr/>
        </p:nvSpPr>
        <p:spPr>
          <a:xfrm xmlns:a="http://schemas.openxmlformats.org/drawingml/2006/main">
            <a:off x="11049000" y="61912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70D1BB"/>
                </a:solidFill>
                <a:latin typeface="Arial"/>
                <a:ea typeface="Arial"/>
                <a:cs typeface="Arial"/>
              </a:defRPr>
            </a:defPPr>
          </a:lstStyle>
          <a:p xmlns:a="http://schemas.openxmlformats.org/drawingml/2006/main">
            <a:pPr>
              <a:defRPr sz="1350" b="0">
                <a:solidFill>
                  <a:srgbClr val="70D1BB"/>
                </a:solidFill>
                <a:latin typeface="Arial"/>
                <a:ea typeface="Arial"/>
                <a:cs typeface="Arial"/>
              </a:defRPr>
            </a:pPr>
            <a:r>
              <a:rPr sz="1350" b="0">
                <a:solidFill>
                  <a:srgbClr val="70D1B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CFA6C3C3-1518-460C-88C9-CBB9EF642FD8}"/>
              </a:ext>
            </a:extLst>
          </p:cNvPr>
          <p:cNvSpPr>
            <a:spLocks xmlns:a="http://schemas.openxmlformats.org/drawingml/2006/main" noGrp="1"/>
          </p:cNvSpPr>
          <p:nvPr/>
        </p:nvSpPr>
        <p:spPr>
          <a:xfrm xmlns:a="http://schemas.openxmlformats.org/drawingml/2006/main">
            <a:off x="609600" y="1285875"/>
            <a:ext cx="676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600" b="1">
                <a:solidFill>
                  <a:srgbClr val="FFFFFF"/>
                </a:solidFill>
                <a:latin typeface="Arial"/>
                <a:ea typeface="Arial"/>
                <a:cs typeface="Arial"/>
              </a:defRPr>
            </a:defPPr>
          </a:lstStyle>
          <a:p xmlns:a="http://schemas.openxmlformats.org/drawingml/2006/main">
            <a:pPr>
              <a:defRPr sz="6600" b="1">
                <a:solidFill>
                  <a:srgbClr val="FFFFFF"/>
                </a:solidFill>
                <a:latin typeface="Arial"/>
                <a:ea typeface="Arial"/>
                <a:cs typeface="Arial"/>
              </a:defRPr>
            </a:pPr>
            <a:r>
              <a:rPr sz="6600" b="1">
                <a:solidFill>
                  <a:srgbClr val="FFFFFF"/>
                </a:solidFill>
                <a:latin typeface="Arial"/>
                <a:ea typeface="Arial"/>
                <a:cs typeface="Arial"/>
              </a:rPr>
              <a:t>Pittsburgh IQ</a:t>
            </a:r>
          </a:p>
        </p:txBody>
      </p:sp>
      <p:sp>
        <p:nvSpPr>
          <p:cNvPr id="4" name="">
            <a:extLst xmlns:a="http://schemas.openxmlformats.org/drawingml/2006/main">
              <a:ext uri="{FF2B5EF4-FFF2-40B4-BE49-F238E27FC236}">
                <a16:creationId xmlns:a16="http://schemas.microsoft.com/office/drawing/2014/main" id="{E4D89A35-184F-48E8-AF33-FD6B0BC476F4}"/>
              </a:ext>
            </a:extLst>
          </p:cNvPr>
          <p:cNvSpPr>
            <a:spLocks xmlns:a="http://schemas.openxmlformats.org/drawingml/2006/main" noGrp="1"/>
          </p:cNvSpPr>
          <p:nvPr/>
        </p:nvSpPr>
        <p:spPr>
          <a:xfrm xmlns:a="http://schemas.openxmlformats.org/drawingml/2006/main">
            <a:off x="647700" y="2609850"/>
            <a:ext cx="6096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0">
                <a:solidFill>
                  <a:srgbClr val="70D1BB"/>
                </a:solidFill>
                <a:latin typeface="Arial"/>
                <a:ea typeface="Arial"/>
                <a:cs typeface="Arial"/>
              </a:defRPr>
            </a:defPPr>
          </a:lstStyle>
          <a:p xmlns:a="http://schemas.openxmlformats.org/drawingml/2006/main">
            <a:pPr>
              <a:defRPr sz="2775" b="0">
                <a:solidFill>
                  <a:srgbClr val="70D1BB"/>
                </a:solidFill>
                <a:latin typeface="Arial"/>
                <a:ea typeface="Arial"/>
                <a:cs typeface="Arial"/>
              </a:defRPr>
            </a:pPr>
            <a:r>
              <a:rPr sz="2775" b="0">
                <a:solidFill>
                  <a:srgbClr val="70D1BB"/>
                </a:solidFill>
                <a:latin typeface="Arial"/>
                <a:ea typeface="Arial"/>
                <a:cs typeface="Arial"/>
              </a:rPr>
              <a:t>AI-powered local business intelligence</a:t>
            </a:r>
          </a:p>
        </p:txBody>
      </p:sp>
      <p:sp>
        <p:nvSpPr>
          <p:cNvPr id="5" name="">
            <a:extLst xmlns:a="http://schemas.openxmlformats.org/drawingml/2006/main">
              <a:ext uri="{FF2B5EF4-FFF2-40B4-BE49-F238E27FC236}">
                <a16:creationId xmlns:a16="http://schemas.microsoft.com/office/drawing/2014/main" id="{DDA2C088-CA68-4B2B-9490-B34B444D435A}"/>
              </a:ext>
            </a:extLst>
          </p:cNvPr>
          <p:cNvSpPr>
            <a:spLocks xmlns:a="http://schemas.openxmlformats.org/drawingml/2006/main" noGrp="1"/>
          </p:cNvSpPr>
          <p:nvPr/>
        </p:nvSpPr>
        <p:spPr>
          <a:xfrm xmlns:a="http://schemas.openxmlformats.org/drawingml/2006/main">
            <a:off x="647700" y="3857625"/>
            <a:ext cx="5619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B5C9C5"/>
                </a:solidFill>
                <a:latin typeface="Arial"/>
                <a:ea typeface="Arial"/>
                <a:cs typeface="Arial"/>
              </a:defRPr>
            </a:defPPr>
          </a:lstStyle>
          <a:p xmlns:a="http://schemas.openxmlformats.org/drawingml/2006/main">
            <a:pPr>
              <a:defRPr sz="1800" b="0">
                <a:solidFill>
                  <a:srgbClr val="B5C9C5"/>
                </a:solidFill>
                <a:latin typeface="Arial"/>
                <a:ea typeface="Arial"/>
                <a:cs typeface="Arial"/>
              </a:defRPr>
            </a:pPr>
            <a:r>
              <a:rPr sz="1800" b="0">
                <a:solidFill>
                  <a:srgbClr val="B5C9C5"/>
                </a:solidFill>
                <a:latin typeface="Arial"/>
                <a:ea typeface="Arial"/>
                <a:cs typeface="Arial"/>
              </a:rPr>
              <a:t>Duquesne University</a:t>
            </a:r>
          </a:p>
          <a:p xmlns:a="http://schemas.openxmlformats.org/drawingml/2006/main">
            <a:pPr>
              <a:defRPr sz="1800" b="0">
                <a:solidFill>
                  <a:srgbClr val="B5C9C5"/>
                </a:solidFill>
                <a:latin typeface="Arial"/>
                <a:ea typeface="Arial"/>
                <a:cs typeface="Arial"/>
              </a:defRPr>
            </a:pPr>
            <a:r>
              <a:rPr sz="1800" b="0">
                <a:solidFill>
                  <a:srgbClr val="B5C9C5"/>
                </a:solidFill>
                <a:latin typeface="Arial"/>
                <a:ea typeface="Arial"/>
                <a:cs typeface="Arial"/>
              </a:rPr>
              <a:t>Vicall Hackathon · Challenge 3</a:t>
            </a:r>
          </a:p>
        </p:txBody>
      </p:sp>
      <p:sp>
        <p:nvSpPr>
          <p:cNvPr id="6" name="">
            <a:extLst xmlns:a="http://schemas.openxmlformats.org/drawingml/2006/main">
              <a:ext uri="{FF2B5EF4-FFF2-40B4-BE49-F238E27FC236}">
                <a16:creationId xmlns:a16="http://schemas.microsoft.com/office/drawing/2014/main" id="{99F9C2A7-AA9F-4E56-8766-6B2D6BCC19E9}"/>
              </a:ext>
            </a:extLst>
          </p:cNvPr>
          <p:cNvSpPr>
            <a:spLocks xmlns:a="http://schemas.openxmlformats.org/drawingml/2006/main" noGrp="1"/>
          </p:cNvSpPr>
          <p:nvPr/>
        </p:nvSpPr>
        <p:spPr>
          <a:xfrm xmlns:a="http://schemas.openxmlformats.org/drawingml/2006/main">
            <a:off x="647700" y="53911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FFFFFF"/>
                </a:solidFill>
                <a:latin typeface="Arial"/>
                <a:ea typeface="Arial"/>
                <a:cs typeface="Arial"/>
              </a:defRPr>
            </a:defPPr>
          </a:lstStyle>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Rayane El Yasti     Oleg Hartman</a:t>
            </a:r>
          </a:p>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Alexander Kearney     Noah White</a:t>
            </a:r>
          </a:p>
        </p:txBody>
      </p:sp>
      <p:pic>
        <p:nvPicPr>
          <p:cNvPr id="7" name="">
            <a:extLst xmlns:a="http://schemas.openxmlformats.org/drawingml/2006/main">
              <a:ext uri="{FF2B5EF4-FFF2-40B4-BE49-F238E27FC236}">
                <a16:creationId xmlns:a16="http://schemas.microsoft.com/office/drawing/2014/main" id="{1A3AE75A-64BE-4200-837D-6C901058E018}"/>
              </a:ext>
            </a:extLst>
          </p:cNvPr>
          <p:cNvPicPr>
            <a:picLocks xmlns:a="http://schemas.openxmlformats.org/drawingml/2006/main" noChangeAspect="1"/>
          </p:cNvPicPr>
          <p:nvPr/>
        </p:nvPicPr>
        <p:blipFill>
          <a:blip xmlns:r="http://schemas.openxmlformats.org/officeDocument/2006/relationships" xmlns:a="http://schemas.openxmlformats.org/drawingml/2006/main" r:embed="R3bce8671c0234d91"/>
          <a:stretch xmlns:a="http://schemas.openxmlformats.org/drawingml/2006/main"/>
        </p:blipFill>
        <p:spPr>
          <a:xfrm xmlns:a="http://schemas.openxmlformats.org/drawingml/2006/main">
            <a:off x="7239000" y="1875973"/>
            <a:ext cx="4333875" cy="2439304"/>
          </a:xfrm>
          <a:prstGeom xmlns:a="http://schemas.openxmlformats.org/drawingml/2006/main" prst="rect">
            <a:avLst/>
          </a:prstGeom>
        </p:spPr>
      </p:pic>
    </p:spTree>
    <p:extLst>
      <p:ext uri="{BB962C8B-B14F-4D97-AF65-F5344CB8AC3E}">
        <p14:creationId xmlns:p14="http://schemas.microsoft.com/office/powerpoint/2010/main" val="1396821168"/>
      </p:ext>
    </p:extLst>
  </p:cSld>
</p:sld>
</file>

<file path=ppt/slides/slide2.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A24DA19-0E81-4354-9ED5-5DFBC328B46D}"/>
              </a:ext>
            </a:extLst>
          </p:cNvPr>
          <p:cNvSpPr>
            <a:spLocks xmlns:a="http://schemas.openxmlformats.org/drawingml/2006/main" noGrp="1"/>
          </p:cNvSpPr>
          <p:nvPr/>
        </p:nvSpPr>
        <p:spPr>
          <a:xfrm xmlns:a="http://schemas.openxmlformats.org/drawingml/2006/main">
            <a:off x="609600" y="3143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54706E"/>
                </a:solidFill>
                <a:latin typeface="Arial"/>
                <a:ea typeface="Arial"/>
                <a:cs typeface="Arial"/>
              </a:defRPr>
            </a:defPPr>
          </a:lstStyle>
          <a:p xmlns:a="http://schemas.openxmlformats.org/drawingml/2006/main">
            <a:pPr>
              <a:defRPr sz="1350" b="1">
                <a:solidFill>
                  <a:srgbClr val="54706E"/>
                </a:solidFill>
                <a:latin typeface="Arial"/>
                <a:ea typeface="Arial"/>
                <a:cs typeface="Arial"/>
              </a:defRPr>
            </a:pPr>
            <a:r>
              <a:rPr sz="1350" b="1">
                <a:solidFill>
                  <a:srgbClr val="54706E"/>
                </a:solidFill>
                <a:latin typeface="Arial"/>
                <a:ea typeface="Arial"/>
                <a:cs typeface="Arial"/>
              </a:rPr>
              <a:t>PITTSBURGH IQ</a:t>
            </a:r>
          </a:p>
        </p:txBody>
      </p:sp>
      <p:sp>
        <p:nvSpPr>
          <p:cNvPr id="2" name="">
            <a:extLst xmlns:a="http://schemas.openxmlformats.org/drawingml/2006/main">
              <a:ext uri="{FF2B5EF4-FFF2-40B4-BE49-F238E27FC236}">
                <a16:creationId xmlns:a16="http://schemas.microsoft.com/office/drawing/2014/main" id="{03A5EB0A-AE2D-4E40-AB92-C98BC487E174}"/>
              </a:ext>
            </a:extLst>
          </p:cNvPr>
          <p:cNvSpPr>
            <a:spLocks xmlns:a="http://schemas.openxmlformats.org/drawingml/2006/main" noGrp="1"/>
          </p:cNvSpPr>
          <p:nvPr/>
        </p:nvSpPr>
        <p:spPr>
          <a:xfrm xmlns:a="http://schemas.openxmlformats.org/drawingml/2006/main">
            <a:off x="11049000" y="61912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4706E"/>
                </a:solidFill>
                <a:latin typeface="Arial"/>
                <a:ea typeface="Arial"/>
                <a:cs typeface="Arial"/>
              </a:defRPr>
            </a:defPPr>
          </a:lstStyle>
          <a:p xmlns:a="http://schemas.openxmlformats.org/drawingml/2006/main">
            <a:pPr>
              <a:defRPr sz="1350" b="0">
                <a:solidFill>
                  <a:srgbClr val="54706E"/>
                </a:solidFill>
                <a:latin typeface="Arial"/>
                <a:ea typeface="Arial"/>
                <a:cs typeface="Arial"/>
              </a:defRPr>
            </a:pPr>
            <a:r>
              <a:rPr sz="1350" b="0">
                <a:solidFill>
                  <a:srgbClr val="54706E"/>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C061B795-E739-408B-B159-B34043A514DD}"/>
              </a:ext>
            </a:extLst>
          </p:cNvPr>
          <p:cNvSpPr>
            <a:spLocks xmlns:a="http://schemas.openxmlformats.org/drawingml/2006/main" noGrp="1"/>
          </p:cNvSpPr>
          <p:nvPr/>
        </p:nvSpPr>
        <p:spPr>
          <a:xfrm xmlns:a="http://schemas.openxmlformats.org/drawingml/2006/main">
            <a:off x="609600" y="95250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00" b="1">
                <a:solidFill>
                  <a:srgbClr val="142F35"/>
                </a:solidFill>
                <a:latin typeface="Arial"/>
                <a:ea typeface="Arial"/>
                <a:cs typeface="Arial"/>
              </a:defRPr>
            </a:defPPr>
          </a:lstStyle>
          <a:p xmlns:a="http://schemas.openxmlformats.org/drawingml/2006/main">
            <a:pPr>
              <a:defRPr sz="4200" b="1">
                <a:solidFill>
                  <a:srgbClr val="142F35"/>
                </a:solidFill>
                <a:latin typeface="Arial"/>
                <a:ea typeface="Arial"/>
                <a:cs typeface="Arial"/>
              </a:defRPr>
            </a:pPr>
            <a:r>
              <a:rPr sz="4200" b="1">
                <a:solidFill>
                  <a:srgbClr val="142F35"/>
                </a:solidFill>
                <a:latin typeface="Arial"/>
                <a:ea typeface="Arial"/>
                <a:cs typeface="Arial"/>
              </a:rPr>
              <a:t>The challenge</a:t>
            </a:r>
          </a:p>
        </p:txBody>
      </p:sp>
      <p:sp>
        <p:nvSpPr>
          <p:cNvPr id="4" name="">
            <a:extLst xmlns:a="http://schemas.openxmlformats.org/drawingml/2006/main">
              <a:ext uri="{FF2B5EF4-FFF2-40B4-BE49-F238E27FC236}">
                <a16:creationId xmlns:a16="http://schemas.microsoft.com/office/drawing/2014/main" id="{B533DA18-8E7C-44D4-87BA-5435DC40FE19}"/>
              </a:ext>
            </a:extLst>
          </p:cNvPr>
          <p:cNvSpPr>
            <a:spLocks xmlns:a="http://schemas.openxmlformats.org/drawingml/2006/main" noGrp="1"/>
          </p:cNvSpPr>
          <p:nvPr/>
        </p:nvSpPr>
        <p:spPr>
          <a:xfrm xmlns:a="http://schemas.openxmlformats.org/drawingml/2006/main">
            <a:off x="609600" y="2190750"/>
            <a:ext cx="10668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75" b="1">
                <a:solidFill>
                  <a:srgbClr val="142F35"/>
                </a:solidFill>
                <a:latin typeface="Arial"/>
                <a:ea typeface="Arial"/>
                <a:cs typeface="Arial"/>
              </a:defRPr>
            </a:defPPr>
          </a:lstStyle>
          <a:p xmlns:a="http://schemas.openxmlformats.org/drawingml/2006/main">
            <a:pPr>
              <a:defRPr sz="3975" b="1">
                <a:solidFill>
                  <a:srgbClr val="142F35"/>
                </a:solidFill>
                <a:latin typeface="Arial"/>
                <a:ea typeface="Arial"/>
                <a:cs typeface="Arial"/>
              </a:defRPr>
            </a:pPr>
            <a:r>
              <a:rPr sz="3975" b="1">
                <a:solidFill>
                  <a:srgbClr val="142F35"/>
                </a:solidFill>
                <a:latin typeface="Arial"/>
                <a:ea typeface="Arial"/>
                <a:cs typeface="Arial"/>
              </a:rPr>
              <a:t>Turn scattered business information</a:t>
            </a:r>
          </a:p>
          <a:p xmlns:a="http://schemas.openxmlformats.org/drawingml/2006/main">
            <a:pPr>
              <a:defRPr sz="3975" b="1">
                <a:solidFill>
                  <a:srgbClr val="142F35"/>
                </a:solidFill>
                <a:latin typeface="Arial"/>
                <a:ea typeface="Arial"/>
                <a:cs typeface="Arial"/>
              </a:defRPr>
            </a:pPr>
            <a:r>
              <a:rPr sz="3975" b="1">
                <a:solidFill>
                  <a:srgbClr val="142F35"/>
                </a:solidFill>
                <a:latin typeface="Arial"/>
                <a:ea typeface="Arial"/>
                <a:cs typeface="Arial"/>
              </a:rPr>
              <a:t>into actionable research with AI</a:t>
            </a:r>
          </a:p>
        </p:txBody>
      </p:sp>
      <p:sp>
        <p:nvSpPr>
          <p:cNvPr id="5" name="">
            <a:extLst xmlns:a="http://schemas.openxmlformats.org/drawingml/2006/main">
              <a:ext uri="{FF2B5EF4-FFF2-40B4-BE49-F238E27FC236}">
                <a16:creationId xmlns:a16="http://schemas.microsoft.com/office/drawing/2014/main" id="{BDBBEC6E-3B0A-4AE7-9439-26A3558DCFF1}"/>
              </a:ext>
            </a:extLst>
          </p:cNvPr>
          <p:cNvSpPr>
            <a:spLocks xmlns:a="http://schemas.openxmlformats.org/drawingml/2006/main" noGrp="1"/>
          </p:cNvSpPr>
          <p:nvPr/>
        </p:nvSpPr>
        <p:spPr>
          <a:xfrm xmlns:a="http://schemas.openxmlformats.org/drawingml/2006/main">
            <a:off x="647700" y="43338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54706E"/>
                </a:solidFill>
                <a:latin typeface="Arial"/>
                <a:ea typeface="Arial"/>
                <a:cs typeface="Arial"/>
              </a:defRPr>
            </a:defPPr>
          </a:lstStyle>
          <a:p xmlns:a="http://schemas.openxmlformats.org/drawingml/2006/main">
            <a:pPr>
              <a:defRPr sz="2400" b="0">
                <a:solidFill>
                  <a:srgbClr val="54706E"/>
                </a:solidFill>
                <a:latin typeface="Arial"/>
                <a:ea typeface="Arial"/>
                <a:cs typeface="Arial"/>
              </a:defRPr>
            </a:pPr>
            <a:r>
              <a:rPr sz="2400" b="0">
                <a:solidFill>
                  <a:srgbClr val="54706E"/>
                </a:solidFill>
                <a:latin typeface="Arial"/>
                <a:ea typeface="Arial"/>
                <a:cs typeface="Arial"/>
              </a:rPr>
              <a:t>A research assistant and a smart local directory</a:t>
            </a:r>
          </a:p>
        </p:txBody>
      </p:sp>
      <p:sp>
        <p:nvSpPr>
          <p:cNvPr id="6" name="">
            <a:extLst xmlns:a="http://schemas.openxmlformats.org/drawingml/2006/main">
              <a:ext uri="{FF2B5EF4-FFF2-40B4-BE49-F238E27FC236}">
                <a16:creationId xmlns:a16="http://schemas.microsoft.com/office/drawing/2014/main" id="{96991182-CAAB-449B-ABF0-E2EA50D77BFC}"/>
              </a:ext>
            </a:extLst>
          </p:cNvPr>
          <p:cNvSpPr>
            <a:spLocks xmlns:a="http://schemas.openxmlformats.org/drawingml/2006/main" noGrp="1"/>
          </p:cNvSpPr>
          <p:nvPr/>
        </p:nvSpPr>
        <p:spPr>
          <a:xfrm xmlns:a="http://schemas.openxmlformats.org/drawingml/2006/main">
            <a:off x="647700" y="55245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4706E"/>
                </a:solidFill>
                <a:latin typeface="Arial"/>
                <a:ea typeface="Arial"/>
                <a:cs typeface="Arial"/>
              </a:defRPr>
            </a:defPPr>
          </a:lstStyle>
          <a:p xmlns:a="http://schemas.openxmlformats.org/drawingml/2006/main">
            <a:pPr>
              <a:defRPr sz="1950" b="0">
                <a:solidFill>
                  <a:srgbClr val="54706E"/>
                </a:solidFill>
                <a:latin typeface="Arial"/>
                <a:ea typeface="Arial"/>
                <a:cs typeface="Arial"/>
              </a:defRPr>
            </a:pPr>
            <a:r>
              <a:rPr sz="1950" b="0">
                <a:solidFill>
                  <a:srgbClr val="54706E"/>
                </a:solidFill>
                <a:latin typeface="Arial"/>
                <a:ea typeface="Arial"/>
                <a:cs typeface="Arial"/>
              </a:rPr>
              <a:t>For Vicall, and for people finding customers, suppliers and partners</a:t>
            </a:r>
          </a:p>
        </p:txBody>
      </p:sp>
    </p:spTree>
    <p:extLst>
      <p:ext uri="{BB962C8B-B14F-4D97-AF65-F5344CB8AC3E}">
        <p14:creationId xmlns:p14="http://schemas.microsoft.com/office/powerpoint/2010/main" val="1992124918"/>
      </p:ext>
    </p:extLst>
  </p:cSld>
</p:sld>
</file>

<file path=ppt/slides/slide3.xml><?xml version="1.0" encoding="utf-8"?>
<p:sld xmlns:p="http://schemas.openxmlformats.org/presentationml/2006/main">
  <p:cSld>
    <p:bg>
      <p:bgPr>
        <a:solidFill xmlns:a="http://schemas.openxmlformats.org/drawingml/2006/main">
          <a:srgbClr val="142F3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A30E7A8-F0DB-4286-BB19-34712973B73D}"/>
              </a:ext>
            </a:extLst>
          </p:cNvPr>
          <p:cNvSpPr>
            <a:spLocks xmlns:a="http://schemas.openxmlformats.org/drawingml/2006/main" noGrp="1"/>
          </p:cNvSpPr>
          <p:nvPr/>
        </p:nvSpPr>
        <p:spPr>
          <a:xfrm xmlns:a="http://schemas.openxmlformats.org/drawingml/2006/main">
            <a:off x="609600" y="3143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70D1BB"/>
                </a:solidFill>
                <a:latin typeface="Arial"/>
                <a:ea typeface="Arial"/>
                <a:cs typeface="Arial"/>
              </a:defRPr>
            </a:defPPr>
          </a:lstStyle>
          <a:p xmlns:a="http://schemas.openxmlformats.org/drawingml/2006/main">
            <a:pPr>
              <a:defRPr sz="1350" b="1">
                <a:solidFill>
                  <a:srgbClr val="70D1BB"/>
                </a:solidFill>
                <a:latin typeface="Arial"/>
                <a:ea typeface="Arial"/>
                <a:cs typeface="Arial"/>
              </a:defRPr>
            </a:pPr>
            <a:r>
              <a:rPr sz="1350" b="1">
                <a:solidFill>
                  <a:srgbClr val="70D1BB"/>
                </a:solidFill>
                <a:latin typeface="Arial"/>
                <a:ea typeface="Arial"/>
                <a:cs typeface="Arial"/>
              </a:rPr>
              <a:t>PITTSBURGH IQ</a:t>
            </a:r>
          </a:p>
        </p:txBody>
      </p:sp>
      <p:sp>
        <p:nvSpPr>
          <p:cNvPr id="2" name="">
            <a:extLst xmlns:a="http://schemas.openxmlformats.org/drawingml/2006/main">
              <a:ext uri="{FF2B5EF4-FFF2-40B4-BE49-F238E27FC236}">
                <a16:creationId xmlns:a16="http://schemas.microsoft.com/office/drawing/2014/main" id="{4205EF70-58E0-4005-B5AF-B51EA7203811}"/>
              </a:ext>
            </a:extLst>
          </p:cNvPr>
          <p:cNvSpPr>
            <a:spLocks xmlns:a="http://schemas.openxmlformats.org/drawingml/2006/main" noGrp="1"/>
          </p:cNvSpPr>
          <p:nvPr/>
        </p:nvSpPr>
        <p:spPr>
          <a:xfrm xmlns:a="http://schemas.openxmlformats.org/drawingml/2006/main">
            <a:off x="11049000" y="61912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70D1BB"/>
                </a:solidFill>
                <a:latin typeface="Arial"/>
                <a:ea typeface="Arial"/>
                <a:cs typeface="Arial"/>
              </a:defRPr>
            </a:defPPr>
          </a:lstStyle>
          <a:p xmlns:a="http://schemas.openxmlformats.org/drawingml/2006/main">
            <a:pPr>
              <a:defRPr sz="1350" b="0">
                <a:solidFill>
                  <a:srgbClr val="70D1BB"/>
                </a:solidFill>
                <a:latin typeface="Arial"/>
                <a:ea typeface="Arial"/>
                <a:cs typeface="Arial"/>
              </a:defRPr>
            </a:pPr>
            <a:r>
              <a:rPr sz="1350" b="0">
                <a:solidFill>
                  <a:srgbClr val="70D1BB"/>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BA795D8A-BF75-4B22-AA45-0C9B2DA4136C}"/>
              </a:ext>
            </a:extLst>
          </p:cNvPr>
          <p:cNvSpPr>
            <a:spLocks xmlns:a="http://schemas.openxmlformats.org/drawingml/2006/main" noGrp="1"/>
          </p:cNvSpPr>
          <p:nvPr/>
        </p:nvSpPr>
        <p:spPr>
          <a:xfrm xmlns:a="http://schemas.openxmlformats.org/drawingml/2006/main">
            <a:off x="609600" y="9906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050" b="1">
                <a:solidFill>
                  <a:srgbClr val="FFFFFF"/>
                </a:solidFill>
                <a:latin typeface="Arial"/>
                <a:ea typeface="Arial"/>
                <a:cs typeface="Arial"/>
              </a:defRPr>
            </a:defPPr>
          </a:lstStyle>
          <a:p xmlns:a="http://schemas.openxmlformats.org/drawingml/2006/main">
            <a:pPr>
              <a:defRPr sz="4050" b="1">
                <a:solidFill>
                  <a:srgbClr val="FFFFFF"/>
                </a:solidFill>
                <a:latin typeface="Arial"/>
                <a:ea typeface="Arial"/>
                <a:cs typeface="Arial"/>
              </a:defRPr>
            </a:pPr>
            <a:r>
              <a:rPr sz="4050" b="1">
                <a:solidFill>
                  <a:srgbClr val="FFFFFF"/>
                </a:solidFill>
                <a:latin typeface="Arial"/>
                <a:ea typeface="Arial"/>
                <a:cs typeface="Arial"/>
              </a:rPr>
              <a:t>A prospect list is only the beginning</a:t>
            </a:r>
          </a:p>
        </p:txBody>
      </p:sp>
      <p:sp>
        <p:nvSpPr>
          <p:cNvPr id="4" name="">
            <a:extLst xmlns:a="http://schemas.openxmlformats.org/drawingml/2006/main">
              <a:ext uri="{FF2B5EF4-FFF2-40B4-BE49-F238E27FC236}">
                <a16:creationId xmlns:a16="http://schemas.microsoft.com/office/drawing/2014/main" id="{2ED267A9-F493-4C62-B034-234CE09A8555}"/>
              </a:ext>
            </a:extLst>
          </p:cNvPr>
          <p:cNvSpPr>
            <a:spLocks xmlns:a="http://schemas.openxmlformats.org/drawingml/2006/main" noGrp="1"/>
          </p:cNvSpPr>
          <p:nvPr/>
        </p:nvSpPr>
        <p:spPr>
          <a:xfrm xmlns:a="http://schemas.openxmlformats.org/drawingml/2006/main">
            <a:off x="647700" y="23812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0">
                <a:solidFill>
                  <a:srgbClr val="FFFFFF"/>
                </a:solidFill>
                <a:latin typeface="Arial"/>
                <a:ea typeface="Arial"/>
                <a:cs typeface="Arial"/>
              </a:defRPr>
            </a:defPPr>
          </a:lstStyle>
          <a:p xmlns:a="http://schemas.openxmlformats.org/drawingml/2006/main">
            <a:pPr>
              <a:defRPr sz="3225" b="0">
                <a:solidFill>
                  <a:srgbClr val="FFFFFF"/>
                </a:solidFill>
                <a:latin typeface="Arial"/>
                <a:ea typeface="Arial"/>
                <a:cs typeface="Arial"/>
              </a:defRPr>
            </a:pPr>
            <a:r>
              <a:rPr sz="3225" b="0">
                <a:solidFill>
                  <a:srgbClr val="FFFFFF"/>
                </a:solidFill>
                <a:latin typeface="Arial"/>
                <a:ea typeface="Arial"/>
                <a:cs typeface="Arial"/>
              </a:rPr>
              <a:t>A local agency finds a promising office.</a:t>
            </a:r>
          </a:p>
        </p:txBody>
      </p:sp>
      <p:sp>
        <p:nvSpPr>
          <p:cNvPr id="5" name="">
            <a:extLst xmlns:a="http://schemas.openxmlformats.org/drawingml/2006/main">
              <a:ext uri="{FF2B5EF4-FFF2-40B4-BE49-F238E27FC236}">
                <a16:creationId xmlns:a16="http://schemas.microsoft.com/office/drawing/2014/main" id="{EC0AE171-DA5F-45C2-956B-01C1D251EBD2}"/>
              </a:ext>
            </a:extLst>
          </p:cNvPr>
          <p:cNvSpPr>
            <a:spLocks xmlns:a="http://schemas.openxmlformats.org/drawingml/2006/main" noGrp="1"/>
          </p:cNvSpPr>
          <p:nvPr/>
        </p:nvSpPr>
        <p:spPr>
          <a:xfrm xmlns:a="http://schemas.openxmlformats.org/drawingml/2006/main">
            <a:off x="647700" y="3429000"/>
            <a:ext cx="10668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0">
                <a:solidFill>
                  <a:srgbClr val="70D1BB"/>
                </a:solidFill>
                <a:latin typeface="Arial"/>
                <a:ea typeface="Arial"/>
                <a:cs typeface="Arial"/>
              </a:defRPr>
            </a:defPPr>
          </a:lstStyle>
          <a:p xmlns:a="http://schemas.openxmlformats.org/drawingml/2006/main">
            <a:pPr>
              <a:defRPr sz="3225" b="0">
                <a:solidFill>
                  <a:srgbClr val="70D1BB"/>
                </a:solidFill>
                <a:latin typeface="Arial"/>
                <a:ea typeface="Arial"/>
                <a:cs typeface="Arial"/>
              </a:defRPr>
            </a:pPr>
            <a:r>
              <a:rPr sz="3225" b="0">
                <a:solidFill>
                  <a:srgbClr val="70D1BB"/>
                </a:solidFill>
                <a:latin typeface="Arial"/>
                <a:ea typeface="Arial"/>
                <a:cs typeface="Arial"/>
              </a:rPr>
              <a:t>What needs attention?</a:t>
            </a:r>
          </a:p>
          <a:p xmlns:a="http://schemas.openxmlformats.org/drawingml/2006/main">
            <a:pPr>
              <a:defRPr sz="3225" b="0">
                <a:solidFill>
                  <a:srgbClr val="70D1BB"/>
                </a:solidFill>
                <a:latin typeface="Arial"/>
                <a:ea typeface="Arial"/>
                <a:cs typeface="Arial"/>
              </a:defRPr>
            </a:pPr>
            <a:r>
              <a:rPr sz="3225" b="0">
                <a:solidFill>
                  <a:srgbClr val="70D1BB"/>
                </a:solidFill>
                <a:latin typeface="Arial"/>
                <a:ea typeface="Arial"/>
                <a:cs typeface="Arial"/>
              </a:rPr>
              <a:t>Who should we contact?</a:t>
            </a:r>
          </a:p>
          <a:p xmlns:a="http://schemas.openxmlformats.org/drawingml/2006/main">
            <a:pPr>
              <a:defRPr sz="3225" b="0">
                <a:solidFill>
                  <a:srgbClr val="70D1BB"/>
                </a:solidFill>
                <a:latin typeface="Arial"/>
                <a:ea typeface="Arial"/>
                <a:cs typeface="Arial"/>
              </a:defRPr>
            </a:pPr>
            <a:r>
              <a:rPr sz="3225" b="0">
                <a:solidFill>
                  <a:srgbClr val="70D1BB"/>
                </a:solidFill>
                <a:latin typeface="Arial"/>
                <a:ea typeface="Arial"/>
                <a:cs typeface="Arial"/>
              </a:rPr>
              <a:t>What have we already checked?</a:t>
            </a:r>
          </a:p>
        </p:txBody>
      </p:sp>
      <p:sp>
        <p:nvSpPr>
          <p:cNvPr id="6" name="">
            <a:extLst xmlns:a="http://schemas.openxmlformats.org/drawingml/2006/main">
              <a:ext uri="{FF2B5EF4-FFF2-40B4-BE49-F238E27FC236}">
                <a16:creationId xmlns:a16="http://schemas.microsoft.com/office/drawing/2014/main" id="{6964920C-CB40-4529-8DA0-06F3DDFAE2C4}"/>
              </a:ext>
            </a:extLst>
          </p:cNvPr>
          <p:cNvSpPr>
            <a:spLocks xmlns:a="http://schemas.openxmlformats.org/drawingml/2006/main" noGrp="1"/>
          </p:cNvSpPr>
          <p:nvPr/>
        </p:nvSpPr>
        <p:spPr>
          <a:xfrm xmlns:a="http://schemas.openxmlformats.org/drawingml/2006/main">
            <a:off x="647700" y="592455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B5C9C5"/>
                </a:solidFill>
                <a:latin typeface="Arial"/>
                <a:ea typeface="Arial"/>
                <a:cs typeface="Arial"/>
              </a:defRPr>
            </a:defPPr>
          </a:lstStyle>
          <a:p xmlns:a="http://schemas.openxmlformats.org/drawingml/2006/main">
            <a:pPr>
              <a:defRPr sz="1575" b="0">
                <a:solidFill>
                  <a:srgbClr val="B5C9C5"/>
                </a:solidFill>
                <a:latin typeface="Arial"/>
                <a:ea typeface="Arial"/>
                <a:cs typeface="Arial"/>
              </a:defRPr>
            </a:pPr>
            <a:r>
              <a:rPr sz="1575" b="0">
                <a:solidFill>
                  <a:srgbClr val="B5C9C5"/>
                </a:solidFill>
                <a:latin typeface="Arial"/>
                <a:ea typeface="Arial"/>
                <a:cs typeface="Arial"/>
              </a:rPr>
              <a:t>Illustrative research scenario</a:t>
            </a:r>
          </a:p>
        </p:txBody>
      </p:sp>
    </p:spTree>
    <p:extLst>
      <p:ext uri="{BB962C8B-B14F-4D97-AF65-F5344CB8AC3E}">
        <p14:creationId xmlns:p14="http://schemas.microsoft.com/office/powerpoint/2010/main" val="750040594"/>
      </p:ext>
    </p:extLst>
  </p:cSld>
</p:sld>
</file>

<file path=ppt/slides/slide4.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99DF5DE-FA89-4F16-8114-7199645C9862}"/>
              </a:ext>
            </a:extLst>
          </p:cNvPr>
          <p:cNvSpPr>
            <a:spLocks xmlns:a="http://schemas.openxmlformats.org/drawingml/2006/main" noGrp="1"/>
          </p:cNvSpPr>
          <p:nvPr/>
        </p:nvSpPr>
        <p:spPr>
          <a:xfrm xmlns:a="http://schemas.openxmlformats.org/drawingml/2006/main">
            <a:off x="609600" y="3143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54706E"/>
                </a:solidFill>
                <a:latin typeface="Arial"/>
                <a:ea typeface="Arial"/>
                <a:cs typeface="Arial"/>
              </a:defRPr>
            </a:defPPr>
          </a:lstStyle>
          <a:p xmlns:a="http://schemas.openxmlformats.org/drawingml/2006/main">
            <a:pPr>
              <a:defRPr sz="1350" b="1">
                <a:solidFill>
                  <a:srgbClr val="54706E"/>
                </a:solidFill>
                <a:latin typeface="Arial"/>
                <a:ea typeface="Arial"/>
                <a:cs typeface="Arial"/>
              </a:defRPr>
            </a:pPr>
            <a:r>
              <a:rPr sz="1350" b="1">
                <a:solidFill>
                  <a:srgbClr val="54706E"/>
                </a:solidFill>
                <a:latin typeface="Arial"/>
                <a:ea typeface="Arial"/>
                <a:cs typeface="Arial"/>
              </a:rPr>
              <a:t>PITTSBURGH IQ</a:t>
            </a:r>
          </a:p>
        </p:txBody>
      </p:sp>
      <p:sp>
        <p:nvSpPr>
          <p:cNvPr id="2" name="">
            <a:extLst xmlns:a="http://schemas.openxmlformats.org/drawingml/2006/main">
              <a:ext uri="{FF2B5EF4-FFF2-40B4-BE49-F238E27FC236}">
                <a16:creationId xmlns:a16="http://schemas.microsoft.com/office/drawing/2014/main" id="{CE385250-7E2C-4116-AF6C-37DF41515CBE}"/>
              </a:ext>
            </a:extLst>
          </p:cNvPr>
          <p:cNvSpPr>
            <a:spLocks xmlns:a="http://schemas.openxmlformats.org/drawingml/2006/main" noGrp="1"/>
          </p:cNvSpPr>
          <p:nvPr/>
        </p:nvSpPr>
        <p:spPr>
          <a:xfrm xmlns:a="http://schemas.openxmlformats.org/drawingml/2006/main">
            <a:off x="11049000" y="61912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4706E"/>
                </a:solidFill>
                <a:latin typeface="Arial"/>
                <a:ea typeface="Arial"/>
                <a:cs typeface="Arial"/>
              </a:defRPr>
            </a:defPPr>
          </a:lstStyle>
          <a:p xmlns:a="http://schemas.openxmlformats.org/drawingml/2006/main">
            <a:pPr>
              <a:defRPr sz="1350" b="0">
                <a:solidFill>
                  <a:srgbClr val="54706E"/>
                </a:solidFill>
                <a:latin typeface="Arial"/>
                <a:ea typeface="Arial"/>
                <a:cs typeface="Arial"/>
              </a:defRPr>
            </a:pPr>
            <a:r>
              <a:rPr sz="1350" b="0">
                <a:solidFill>
                  <a:srgbClr val="54706E"/>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EACD5EFC-6E7F-4421-8969-3E739F3CED93}"/>
              </a:ext>
            </a:extLst>
          </p:cNvPr>
          <p:cNvSpPr>
            <a:spLocks xmlns:a="http://schemas.openxmlformats.org/drawingml/2006/main" noGrp="1"/>
          </p:cNvSpPr>
          <p:nvPr/>
        </p:nvSpPr>
        <p:spPr>
          <a:xfrm xmlns:a="http://schemas.openxmlformats.org/drawingml/2006/main">
            <a:off x="609600" y="95250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75" b="1">
                <a:solidFill>
                  <a:srgbClr val="142F35"/>
                </a:solidFill>
                <a:latin typeface="Arial"/>
                <a:ea typeface="Arial"/>
                <a:cs typeface="Arial"/>
              </a:defRPr>
            </a:defPPr>
          </a:lstStyle>
          <a:p xmlns:a="http://schemas.openxmlformats.org/drawingml/2006/main">
            <a:pPr>
              <a:defRPr sz="3975" b="1">
                <a:solidFill>
                  <a:srgbClr val="142F35"/>
                </a:solidFill>
                <a:latin typeface="Arial"/>
                <a:ea typeface="Arial"/>
                <a:cs typeface="Arial"/>
              </a:defRPr>
            </a:pPr>
            <a:r>
              <a:rPr sz="3975" b="1">
                <a:solidFill>
                  <a:srgbClr val="142F35"/>
                </a:solidFill>
                <a:latin typeface="Arial"/>
                <a:ea typeface="Arial"/>
                <a:cs typeface="Arial"/>
              </a:rPr>
              <a:t>A working directory of Pittsburgh</a:t>
            </a:r>
          </a:p>
        </p:txBody>
      </p:sp>
      <p:sp>
        <p:nvSpPr>
          <p:cNvPr id="4" name="">
            <a:extLst xmlns:a="http://schemas.openxmlformats.org/drawingml/2006/main">
              <a:ext uri="{FF2B5EF4-FFF2-40B4-BE49-F238E27FC236}">
                <a16:creationId xmlns:a16="http://schemas.microsoft.com/office/drawing/2014/main" id="{9480C766-D052-4899-8E65-B7E5E4D0BF52}"/>
              </a:ext>
            </a:extLst>
          </p:cNvPr>
          <p:cNvSpPr>
            <a:spLocks xmlns:a="http://schemas.openxmlformats.org/drawingml/2006/main" noGrp="1"/>
          </p:cNvSpPr>
          <p:nvPr/>
        </p:nvSpPr>
        <p:spPr>
          <a:xfrm xmlns:a="http://schemas.openxmlformats.org/drawingml/2006/main">
            <a:off x="609600" y="2247900"/>
            <a:ext cx="3810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050" b="1">
                <a:solidFill>
                  <a:srgbClr val="142F35"/>
                </a:solidFill>
                <a:latin typeface="Arial"/>
                <a:ea typeface="Arial"/>
                <a:cs typeface="Arial"/>
              </a:defRPr>
            </a:defPPr>
          </a:lstStyle>
          <a:p xmlns:a="http://schemas.openxmlformats.org/drawingml/2006/main">
            <a:pPr>
              <a:defRPr sz="7050" b="1">
                <a:solidFill>
                  <a:srgbClr val="142F35"/>
                </a:solidFill>
                <a:latin typeface="Arial"/>
                <a:ea typeface="Arial"/>
                <a:cs typeface="Arial"/>
              </a:defRPr>
            </a:pPr>
            <a:r>
              <a:rPr sz="7050" b="1">
                <a:solidFill>
                  <a:srgbClr val="142F35"/>
                </a:solidFill>
                <a:latin typeface="Arial"/>
                <a:ea typeface="Arial"/>
                <a:cs typeface="Arial"/>
              </a:rPr>
              <a:t>2,603</a:t>
            </a:r>
          </a:p>
        </p:txBody>
      </p:sp>
      <p:sp>
        <p:nvSpPr>
          <p:cNvPr id="5" name="">
            <a:extLst xmlns:a="http://schemas.openxmlformats.org/drawingml/2006/main">
              <a:ext uri="{FF2B5EF4-FFF2-40B4-BE49-F238E27FC236}">
                <a16:creationId xmlns:a16="http://schemas.microsoft.com/office/drawing/2014/main" id="{AF6A0868-C408-4E2B-A8CF-E0D340625748}"/>
              </a:ext>
            </a:extLst>
          </p:cNvPr>
          <p:cNvSpPr>
            <a:spLocks xmlns:a="http://schemas.openxmlformats.org/drawingml/2006/main" noGrp="1"/>
          </p:cNvSpPr>
          <p:nvPr/>
        </p:nvSpPr>
        <p:spPr>
          <a:xfrm xmlns:a="http://schemas.openxmlformats.org/drawingml/2006/main">
            <a:off x="647700" y="3352800"/>
            <a:ext cx="3905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54706E"/>
                </a:solidFill>
                <a:latin typeface="Arial"/>
                <a:ea typeface="Arial"/>
                <a:cs typeface="Arial"/>
              </a:defRPr>
            </a:defPPr>
          </a:lstStyle>
          <a:p xmlns:a="http://schemas.openxmlformats.org/drawingml/2006/main">
            <a:pPr>
              <a:defRPr sz="2250" b="0">
                <a:solidFill>
                  <a:srgbClr val="54706E"/>
                </a:solidFill>
                <a:latin typeface="Arial"/>
                <a:ea typeface="Arial"/>
                <a:cs typeface="Arial"/>
              </a:defRPr>
            </a:pPr>
            <a:r>
              <a:rPr sz="2250" b="0">
                <a:solidFill>
                  <a:srgbClr val="54706E"/>
                </a:solidFill>
                <a:latin typeface="Arial"/>
                <a:ea typeface="Arial"/>
                <a:cs typeface="Arial"/>
              </a:rPr>
              <a:t>business candidates</a:t>
            </a:r>
          </a:p>
        </p:txBody>
      </p:sp>
      <p:sp>
        <p:nvSpPr>
          <p:cNvPr id="6" name="">
            <a:extLst xmlns:a="http://schemas.openxmlformats.org/drawingml/2006/main">
              <a:ext uri="{FF2B5EF4-FFF2-40B4-BE49-F238E27FC236}">
                <a16:creationId xmlns:a16="http://schemas.microsoft.com/office/drawing/2014/main" id="{9E95129E-BCEF-4599-8216-CD2D2BCBA87D}"/>
              </a:ext>
            </a:extLst>
          </p:cNvPr>
          <p:cNvSpPr>
            <a:spLocks xmlns:a="http://schemas.openxmlformats.org/drawingml/2006/main" noGrp="1"/>
          </p:cNvSpPr>
          <p:nvPr/>
        </p:nvSpPr>
        <p:spPr>
          <a:xfrm xmlns:a="http://schemas.openxmlformats.org/drawingml/2006/main">
            <a:off x="647700" y="429577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F35"/>
                </a:solidFill>
                <a:latin typeface="Arial"/>
                <a:ea typeface="Arial"/>
                <a:cs typeface="Arial"/>
              </a:defRPr>
            </a:defPPr>
          </a:lstStyle>
          <a:p xmlns:a="http://schemas.openxmlformats.org/drawingml/2006/main">
            <a:pPr>
              <a:defRPr sz="2250" b="0">
                <a:solidFill>
                  <a:srgbClr val="142F35"/>
                </a:solidFill>
                <a:latin typeface="Arial"/>
                <a:ea typeface="Arial"/>
                <a:cs typeface="Arial"/>
              </a:defRPr>
            </a:pPr>
            <a:r>
              <a:rPr sz="2250" b="0">
                <a:solidFill>
                  <a:srgbClr val="142F35"/>
                </a:solidFill>
                <a:latin typeface="Arial"/>
                <a:ea typeface="Arial"/>
                <a:cs typeface="Arial"/>
              </a:rPr>
              <a:t>1,059 listed websites</a:t>
            </a:r>
          </a:p>
          <a:p xmlns:a="http://schemas.openxmlformats.org/drawingml/2006/main">
            <a:pPr>
              <a:defRPr sz="2250" b="0">
                <a:solidFill>
                  <a:srgbClr val="142F35"/>
                </a:solidFill>
                <a:latin typeface="Arial"/>
                <a:ea typeface="Arial"/>
                <a:cs typeface="Arial"/>
              </a:defRPr>
            </a:pPr>
            <a:r>
              <a:rPr sz="2250" b="0">
                <a:solidFill>
                  <a:srgbClr val="142F35"/>
                </a:solidFill>
                <a:latin typeface="Arial"/>
                <a:ea typeface="Arial"/>
                <a:cs typeface="Arial"/>
              </a:rPr>
              <a:t>146 email contacts</a:t>
            </a:r>
          </a:p>
        </p:txBody>
      </p:sp>
      <p:sp>
        <p:nvSpPr>
          <p:cNvPr id="7" name="">
            <a:extLst xmlns:a="http://schemas.openxmlformats.org/drawingml/2006/main">
              <a:ext uri="{FF2B5EF4-FFF2-40B4-BE49-F238E27FC236}">
                <a16:creationId xmlns:a16="http://schemas.microsoft.com/office/drawing/2014/main" id="{259B5DD2-8A2A-4725-B06F-08B27EFCF938}"/>
              </a:ext>
            </a:extLst>
          </p:cNvPr>
          <p:cNvSpPr>
            <a:spLocks xmlns:a="http://schemas.openxmlformats.org/drawingml/2006/main" noGrp="1"/>
          </p:cNvSpPr>
          <p:nvPr/>
        </p:nvSpPr>
        <p:spPr>
          <a:xfrm xmlns:a="http://schemas.openxmlformats.org/drawingml/2006/main">
            <a:off x="647700" y="5772150"/>
            <a:ext cx="552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4706E"/>
                </a:solidFill>
                <a:latin typeface="Arial"/>
                <a:ea typeface="Arial"/>
                <a:cs typeface="Arial"/>
              </a:defRPr>
            </a:defPPr>
          </a:lstStyle>
          <a:p xmlns:a="http://schemas.openxmlformats.org/drawingml/2006/main">
            <a:pPr>
              <a:defRPr sz="1650" b="0">
                <a:solidFill>
                  <a:srgbClr val="54706E"/>
                </a:solidFill>
                <a:latin typeface="Arial"/>
                <a:ea typeface="Arial"/>
                <a:cs typeface="Arial"/>
              </a:defRPr>
            </a:pPr>
            <a:r>
              <a:rPr sz="1650" b="0">
                <a:solidFill>
                  <a:srgbClr val="54706E"/>
                </a:solidFill>
                <a:latin typeface="Arial"/>
                <a:ea typeface="Arial"/>
                <a:cs typeface="Arial"/>
              </a:rPr>
              <a:t>Saved public listings, pending review</a:t>
            </a:r>
          </a:p>
        </p:txBody>
      </p:sp>
      <p:pic>
        <p:nvPicPr>
          <p:cNvPr id="8" name="">
            <a:extLst xmlns:a="http://schemas.openxmlformats.org/drawingml/2006/main">
              <a:ext uri="{FF2B5EF4-FFF2-40B4-BE49-F238E27FC236}">
                <a16:creationId xmlns:a16="http://schemas.microsoft.com/office/drawing/2014/main" id="{1A3C5BB3-35B3-4FF2-AF8D-A4A27292BCEB}"/>
              </a:ext>
            </a:extLst>
          </p:cNvPr>
          <p:cNvPicPr>
            <a:picLocks xmlns:a="http://schemas.openxmlformats.org/drawingml/2006/main" noChangeAspect="1"/>
          </p:cNvPicPr>
          <p:nvPr/>
        </p:nvPicPr>
        <p:blipFill>
          <a:blip xmlns:r="http://schemas.openxmlformats.org/officeDocument/2006/relationships" xmlns:a="http://schemas.openxmlformats.org/drawingml/2006/main" r:embed="Rd7cbe42d8f674edc"/>
          <a:stretch xmlns:a="http://schemas.openxmlformats.org/drawingml/2006/main"/>
        </p:blipFill>
        <p:spPr>
          <a:xfrm xmlns:a="http://schemas.openxmlformats.org/drawingml/2006/main">
            <a:off x="4863001" y="2190750"/>
            <a:ext cx="6752248" cy="3800475"/>
          </a:xfrm>
          <a:prstGeom xmlns:a="http://schemas.openxmlformats.org/drawingml/2006/main" prst="rect">
            <a:avLst/>
          </a:prstGeom>
        </p:spPr>
      </p:pic>
    </p:spTree>
    <p:extLst>
      <p:ext uri="{BB962C8B-B14F-4D97-AF65-F5344CB8AC3E}">
        <p14:creationId xmlns:p14="http://schemas.microsoft.com/office/powerpoint/2010/main" val="266818731"/>
      </p:ext>
    </p:extLst>
  </p:cSld>
</p:sld>
</file>

<file path=ppt/slides/slide5.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120973C-D2BD-4397-9987-2344B9CF85EE}"/>
              </a:ext>
            </a:extLst>
          </p:cNvPr>
          <p:cNvSpPr>
            <a:spLocks xmlns:a="http://schemas.openxmlformats.org/drawingml/2006/main" noGrp="1"/>
          </p:cNvSpPr>
          <p:nvPr/>
        </p:nvSpPr>
        <p:spPr>
          <a:xfrm xmlns:a="http://schemas.openxmlformats.org/drawingml/2006/main">
            <a:off x="609600" y="3143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54706E"/>
                </a:solidFill>
                <a:latin typeface="Arial"/>
                <a:ea typeface="Arial"/>
                <a:cs typeface="Arial"/>
              </a:defRPr>
            </a:defPPr>
          </a:lstStyle>
          <a:p xmlns:a="http://schemas.openxmlformats.org/drawingml/2006/main">
            <a:pPr>
              <a:defRPr sz="1350" b="1">
                <a:solidFill>
                  <a:srgbClr val="54706E"/>
                </a:solidFill>
                <a:latin typeface="Arial"/>
                <a:ea typeface="Arial"/>
                <a:cs typeface="Arial"/>
              </a:defRPr>
            </a:pPr>
            <a:r>
              <a:rPr sz="1350" b="1">
                <a:solidFill>
                  <a:srgbClr val="54706E"/>
                </a:solidFill>
                <a:latin typeface="Arial"/>
                <a:ea typeface="Arial"/>
                <a:cs typeface="Arial"/>
              </a:rPr>
              <a:t>PITTSBURGH IQ</a:t>
            </a:r>
          </a:p>
        </p:txBody>
      </p:sp>
      <p:sp>
        <p:nvSpPr>
          <p:cNvPr id="2" name="">
            <a:extLst xmlns:a="http://schemas.openxmlformats.org/drawingml/2006/main">
              <a:ext uri="{FF2B5EF4-FFF2-40B4-BE49-F238E27FC236}">
                <a16:creationId xmlns:a16="http://schemas.microsoft.com/office/drawing/2014/main" id="{3A52700C-0FF0-4935-A9FB-8B873F46C7E2}"/>
              </a:ext>
            </a:extLst>
          </p:cNvPr>
          <p:cNvSpPr>
            <a:spLocks xmlns:a="http://schemas.openxmlformats.org/drawingml/2006/main" noGrp="1"/>
          </p:cNvSpPr>
          <p:nvPr/>
        </p:nvSpPr>
        <p:spPr>
          <a:xfrm xmlns:a="http://schemas.openxmlformats.org/drawingml/2006/main">
            <a:off x="11049000" y="61912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4706E"/>
                </a:solidFill>
                <a:latin typeface="Arial"/>
                <a:ea typeface="Arial"/>
                <a:cs typeface="Arial"/>
              </a:defRPr>
            </a:defPPr>
          </a:lstStyle>
          <a:p xmlns:a="http://schemas.openxmlformats.org/drawingml/2006/main">
            <a:pPr>
              <a:defRPr sz="1350" b="0">
                <a:solidFill>
                  <a:srgbClr val="54706E"/>
                </a:solidFill>
                <a:latin typeface="Arial"/>
                <a:ea typeface="Arial"/>
                <a:cs typeface="Arial"/>
              </a:defRPr>
            </a:pPr>
            <a:r>
              <a:rPr sz="1350" b="0">
                <a:solidFill>
                  <a:srgbClr val="54706E"/>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7D47F8A2-4210-4319-832A-F98113638CA5}"/>
              </a:ext>
            </a:extLst>
          </p:cNvPr>
          <p:cNvSpPr>
            <a:spLocks xmlns:a="http://schemas.openxmlformats.org/drawingml/2006/main" noGrp="1"/>
          </p:cNvSpPr>
          <p:nvPr/>
        </p:nvSpPr>
        <p:spPr>
          <a:xfrm xmlns:a="http://schemas.openxmlformats.org/drawingml/2006/main">
            <a:off x="609600" y="95250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1">
                <a:solidFill>
                  <a:srgbClr val="142F35"/>
                </a:solidFill>
                <a:latin typeface="Arial"/>
                <a:ea typeface="Arial"/>
                <a:cs typeface="Arial"/>
              </a:defRPr>
            </a:defPPr>
          </a:lstStyle>
          <a:p xmlns:a="http://schemas.openxmlformats.org/drawingml/2006/main">
            <a:pPr>
              <a:defRPr sz="3675" b="1">
                <a:solidFill>
                  <a:srgbClr val="142F35"/>
                </a:solidFill>
                <a:latin typeface="Arial"/>
                <a:ea typeface="Arial"/>
                <a:cs typeface="Arial"/>
              </a:defRPr>
            </a:pPr>
            <a:r>
              <a:rPr sz="3675" b="1">
                <a:solidFill>
                  <a:srgbClr val="142F35"/>
                </a:solidFill>
                <a:latin typeface="Arial"/>
                <a:ea typeface="Arial"/>
                <a:cs typeface="Arial"/>
              </a:rPr>
              <a:t>A question leads to inspectable evidence</a:t>
            </a:r>
          </a:p>
        </p:txBody>
      </p:sp>
      <p:sp>
        <p:nvSpPr>
          <p:cNvPr id="4" name="">
            <a:extLst xmlns:a="http://schemas.openxmlformats.org/drawingml/2006/main">
              <a:ext uri="{FF2B5EF4-FFF2-40B4-BE49-F238E27FC236}">
                <a16:creationId xmlns:a16="http://schemas.microsoft.com/office/drawing/2014/main" id="{42284A74-39C2-4BE7-986A-1243ACF01645}"/>
              </a:ext>
            </a:extLst>
          </p:cNvPr>
          <p:cNvSpPr>
            <a:spLocks xmlns:a="http://schemas.openxmlformats.org/drawingml/2006/main" noGrp="1"/>
          </p:cNvSpPr>
          <p:nvPr/>
        </p:nvSpPr>
        <p:spPr>
          <a:xfrm xmlns:a="http://schemas.openxmlformats.org/drawingml/2006/main">
            <a:off x="647700" y="2314575"/>
            <a:ext cx="4191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142F35"/>
                </a:solidFill>
                <a:latin typeface="Arial"/>
                <a:ea typeface="Arial"/>
                <a:cs typeface="Arial"/>
              </a:defRPr>
            </a:defPPr>
          </a:lstStyle>
          <a:p xmlns:a="http://schemas.openxmlformats.org/drawingml/2006/main">
            <a:pPr>
              <a:defRPr sz="2775" b="1">
                <a:solidFill>
                  <a:srgbClr val="142F35"/>
                </a:solidFill>
                <a:latin typeface="Arial"/>
                <a:ea typeface="Arial"/>
                <a:cs typeface="Arial"/>
              </a:defRPr>
            </a:pPr>
            <a:r>
              <a:rPr sz="2775" b="1">
                <a:solidFill>
                  <a:srgbClr val="142F35"/>
                </a:solidFill>
                <a:latin typeface="Arial"/>
                <a:ea typeface="Arial"/>
                <a:cs typeface="Arial"/>
              </a:rPr>
              <a:t>“Find legal services”</a:t>
            </a:r>
          </a:p>
        </p:txBody>
      </p:sp>
      <p:sp>
        <p:nvSpPr>
          <p:cNvPr id="5" name="">
            <a:extLst xmlns:a="http://schemas.openxmlformats.org/drawingml/2006/main">
              <a:ext uri="{FF2B5EF4-FFF2-40B4-BE49-F238E27FC236}">
                <a16:creationId xmlns:a16="http://schemas.microsoft.com/office/drawing/2014/main" id="{EABC129D-BD22-4E78-B0EA-B6F473643B2A}"/>
              </a:ext>
            </a:extLst>
          </p:cNvPr>
          <p:cNvSpPr>
            <a:spLocks xmlns:a="http://schemas.openxmlformats.org/drawingml/2006/main" noGrp="1"/>
          </p:cNvSpPr>
          <p:nvPr/>
        </p:nvSpPr>
        <p:spPr>
          <a:xfrm xmlns:a="http://schemas.openxmlformats.org/drawingml/2006/main">
            <a:off x="647700" y="3638550"/>
            <a:ext cx="4191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54706E"/>
                </a:solidFill>
                <a:latin typeface="Arial"/>
                <a:ea typeface="Arial"/>
                <a:cs typeface="Arial"/>
              </a:defRPr>
            </a:defPPr>
          </a:lstStyle>
          <a:p xmlns:a="http://schemas.openxmlformats.org/drawingml/2006/main">
            <a:pPr>
              <a:defRPr sz="2250" b="0">
                <a:solidFill>
                  <a:srgbClr val="54706E"/>
                </a:solidFill>
                <a:latin typeface="Arial"/>
                <a:ea typeface="Arial"/>
                <a:cs typeface="Arial"/>
              </a:defRPr>
            </a:pPr>
            <a:r>
              <a:rPr sz="2250" b="0">
                <a:solidFill>
                  <a:srgbClr val="54706E"/>
                </a:solidFill>
                <a:latin typeface="Arial"/>
                <a:ea typeface="Arial"/>
                <a:cs typeface="Arial"/>
              </a:rPr>
              <a:t>22 candidates</a:t>
            </a:r>
          </a:p>
          <a:p xmlns:a="http://schemas.openxmlformats.org/drawingml/2006/main">
            <a:pPr>
              <a:defRPr sz="2250" b="0">
                <a:solidFill>
                  <a:srgbClr val="54706E"/>
                </a:solidFill>
                <a:latin typeface="Arial"/>
                <a:ea typeface="Arial"/>
                <a:cs typeface="Arial"/>
              </a:defRPr>
            </a:pPr>
            <a:r>
              <a:rPr sz="2250" b="0">
                <a:solidFill>
                  <a:srgbClr val="54706E"/>
                </a:solidFill>
                <a:latin typeface="Arial"/>
                <a:ea typeface="Arial"/>
                <a:cs typeface="Arial"/>
              </a:rPr>
              <a:t>0 new external requests</a:t>
            </a:r>
          </a:p>
        </p:txBody>
      </p:sp>
      <p:sp>
        <p:nvSpPr>
          <p:cNvPr id="6" name="">
            <a:extLst xmlns:a="http://schemas.openxmlformats.org/drawingml/2006/main">
              <a:ext uri="{FF2B5EF4-FFF2-40B4-BE49-F238E27FC236}">
                <a16:creationId xmlns:a16="http://schemas.microsoft.com/office/drawing/2014/main" id="{CD9815E4-766A-4F57-A182-9B701250E7CB}"/>
              </a:ext>
            </a:extLst>
          </p:cNvPr>
          <p:cNvSpPr>
            <a:spLocks xmlns:a="http://schemas.openxmlformats.org/drawingml/2006/main" noGrp="1"/>
          </p:cNvSpPr>
          <p:nvPr/>
        </p:nvSpPr>
        <p:spPr>
          <a:xfrm xmlns:a="http://schemas.openxmlformats.org/drawingml/2006/main">
            <a:off x="647700" y="5095875"/>
            <a:ext cx="4191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4706E"/>
                </a:solidFill>
                <a:latin typeface="Arial"/>
                <a:ea typeface="Arial"/>
                <a:cs typeface="Arial"/>
              </a:defRPr>
            </a:defPPr>
          </a:lstStyle>
          <a:p xmlns:a="http://schemas.openxmlformats.org/drawingml/2006/main">
            <a:pPr>
              <a:defRPr sz="2175" b="0">
                <a:solidFill>
                  <a:srgbClr val="54706E"/>
                </a:solidFill>
                <a:latin typeface="Arial"/>
                <a:ea typeface="Arial"/>
                <a:cs typeface="Arial"/>
              </a:defRPr>
            </a:pPr>
            <a:r>
              <a:rPr sz="2175" b="0">
                <a:solidFill>
                  <a:srgbClr val="54706E"/>
                </a:solidFill>
                <a:latin typeface="Arial"/>
                <a:ea typeface="Arial"/>
                <a:cs typeface="Arial"/>
              </a:rPr>
              <a:t>Sources and dates stay</a:t>
            </a:r>
          </a:p>
          <a:p xmlns:a="http://schemas.openxmlformats.org/drawingml/2006/main">
            <a:pPr>
              <a:defRPr sz="2175" b="0">
                <a:solidFill>
                  <a:srgbClr val="54706E"/>
                </a:solidFill>
                <a:latin typeface="Arial"/>
                <a:ea typeface="Arial"/>
                <a:cs typeface="Arial"/>
              </a:defRPr>
            </a:pPr>
            <a:r>
              <a:rPr sz="2175" b="0">
                <a:solidFill>
                  <a:srgbClr val="54706E"/>
                </a:solidFill>
                <a:latin typeface="Arial"/>
                <a:ea typeface="Arial"/>
                <a:cs typeface="Arial"/>
              </a:rPr>
              <a:t>with each observation</a:t>
            </a:r>
          </a:p>
        </p:txBody>
      </p:sp>
      <p:pic>
        <p:nvPicPr>
          <p:cNvPr id="7" name="">
            <a:extLst xmlns:a="http://schemas.openxmlformats.org/drawingml/2006/main">
              <a:ext uri="{FF2B5EF4-FFF2-40B4-BE49-F238E27FC236}">
                <a16:creationId xmlns:a16="http://schemas.microsoft.com/office/drawing/2014/main" id="{1F36FE84-AD4F-4222-9429-0A6FAD2D3DF4}"/>
              </a:ext>
            </a:extLst>
          </p:cNvPr>
          <p:cNvPicPr>
            <a:picLocks xmlns:a="http://schemas.openxmlformats.org/drawingml/2006/main" noChangeAspect="1"/>
          </p:cNvPicPr>
          <p:nvPr/>
        </p:nvPicPr>
        <p:blipFill>
          <a:blip xmlns:r="http://schemas.openxmlformats.org/officeDocument/2006/relationships" xmlns:a="http://schemas.openxmlformats.org/drawingml/2006/main" r:embed="R2c7601a0821f4d78"/>
          <a:srcRect xmlns:a="http://schemas.openxmlformats.org/drawingml/2006/main" l="22000" t="19000" r="4000" b="3000"/>
          <a:stretch xmlns:a="http://schemas.openxmlformats.org/drawingml/2006/main"/>
        </p:blipFill>
        <p:spPr>
          <a:xfrm xmlns:a="http://schemas.openxmlformats.org/drawingml/2006/main">
            <a:off x="5048250" y="2052139"/>
            <a:ext cx="6572250" cy="3896723"/>
          </a:xfrm>
          <a:prstGeom xmlns:a="http://schemas.openxmlformats.org/drawingml/2006/main" prst="rect">
            <a:avLst/>
          </a:prstGeom>
        </p:spPr>
      </p:pic>
    </p:spTree>
    <p:extLst>
      <p:ext uri="{BB962C8B-B14F-4D97-AF65-F5344CB8AC3E}">
        <p14:creationId xmlns:p14="http://schemas.microsoft.com/office/powerpoint/2010/main" val="1920400033"/>
      </p:ext>
    </p:extLst>
  </p:cSld>
</p:sld>
</file>

<file path=ppt/slides/slide6.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DE8F9C2-9394-4A02-9E0B-786F6826CFC2}"/>
              </a:ext>
            </a:extLst>
          </p:cNvPr>
          <p:cNvSpPr>
            <a:spLocks xmlns:a="http://schemas.openxmlformats.org/drawingml/2006/main" noGrp="1"/>
          </p:cNvSpPr>
          <p:nvPr/>
        </p:nvSpPr>
        <p:spPr>
          <a:xfrm xmlns:a="http://schemas.openxmlformats.org/drawingml/2006/main">
            <a:off x="609600" y="3143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54706E"/>
                </a:solidFill>
                <a:latin typeface="Arial"/>
                <a:ea typeface="Arial"/>
                <a:cs typeface="Arial"/>
              </a:defRPr>
            </a:defPPr>
          </a:lstStyle>
          <a:p xmlns:a="http://schemas.openxmlformats.org/drawingml/2006/main">
            <a:pPr>
              <a:defRPr sz="1350" b="1">
                <a:solidFill>
                  <a:srgbClr val="54706E"/>
                </a:solidFill>
                <a:latin typeface="Arial"/>
                <a:ea typeface="Arial"/>
                <a:cs typeface="Arial"/>
              </a:defRPr>
            </a:pPr>
            <a:r>
              <a:rPr sz="1350" b="1">
                <a:solidFill>
                  <a:srgbClr val="54706E"/>
                </a:solidFill>
                <a:latin typeface="Arial"/>
                <a:ea typeface="Arial"/>
                <a:cs typeface="Arial"/>
              </a:rPr>
              <a:t>PITTSBURGH IQ</a:t>
            </a:r>
          </a:p>
        </p:txBody>
      </p:sp>
      <p:sp>
        <p:nvSpPr>
          <p:cNvPr id="2" name="">
            <a:extLst xmlns:a="http://schemas.openxmlformats.org/drawingml/2006/main">
              <a:ext uri="{FF2B5EF4-FFF2-40B4-BE49-F238E27FC236}">
                <a16:creationId xmlns:a16="http://schemas.microsoft.com/office/drawing/2014/main" id="{03B37637-2C80-42F3-BB75-82DF444167ED}"/>
              </a:ext>
            </a:extLst>
          </p:cNvPr>
          <p:cNvSpPr>
            <a:spLocks xmlns:a="http://schemas.openxmlformats.org/drawingml/2006/main" noGrp="1"/>
          </p:cNvSpPr>
          <p:nvPr/>
        </p:nvSpPr>
        <p:spPr>
          <a:xfrm xmlns:a="http://schemas.openxmlformats.org/drawingml/2006/main">
            <a:off x="11049000" y="61912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4706E"/>
                </a:solidFill>
                <a:latin typeface="Arial"/>
                <a:ea typeface="Arial"/>
                <a:cs typeface="Arial"/>
              </a:defRPr>
            </a:defPPr>
          </a:lstStyle>
          <a:p xmlns:a="http://schemas.openxmlformats.org/drawingml/2006/main">
            <a:pPr>
              <a:defRPr sz="1350" b="0">
                <a:solidFill>
                  <a:srgbClr val="54706E"/>
                </a:solidFill>
                <a:latin typeface="Arial"/>
                <a:ea typeface="Arial"/>
                <a:cs typeface="Arial"/>
              </a:defRPr>
            </a:pPr>
            <a:r>
              <a:rPr sz="1350" b="0">
                <a:solidFill>
                  <a:srgbClr val="54706E"/>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0D252A56-A9ED-40BF-A96D-D708C0DA4F33}"/>
              </a:ext>
            </a:extLst>
          </p:cNvPr>
          <p:cNvSpPr>
            <a:spLocks xmlns:a="http://schemas.openxmlformats.org/drawingml/2006/main" noGrp="1"/>
          </p:cNvSpPr>
          <p:nvPr/>
        </p:nvSpPr>
        <p:spPr>
          <a:xfrm xmlns:a="http://schemas.openxmlformats.org/drawingml/2006/main">
            <a:off x="609600" y="981075"/>
            <a:ext cx="6572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1">
                <a:solidFill>
                  <a:srgbClr val="142F35"/>
                </a:solidFill>
                <a:latin typeface="Arial"/>
                <a:ea typeface="Arial"/>
                <a:cs typeface="Arial"/>
              </a:defRPr>
            </a:defPPr>
          </a:lstStyle>
          <a:p xmlns:a="http://schemas.openxmlformats.org/drawingml/2006/main">
            <a:pPr>
              <a:defRPr sz="3675" b="1">
                <a:solidFill>
                  <a:srgbClr val="142F35"/>
                </a:solidFill>
                <a:latin typeface="Arial"/>
                <a:ea typeface="Arial"/>
                <a:cs typeface="Arial"/>
              </a:defRPr>
            </a:pPr>
            <a:r>
              <a:rPr sz="3675" b="1">
                <a:solidFill>
                  <a:srgbClr val="142F35"/>
                </a:solidFill>
                <a:latin typeface="Arial"/>
                <a:ea typeface="Arial"/>
                <a:cs typeface="Arial"/>
              </a:rPr>
              <a:t>A website finding gives</a:t>
            </a:r>
          </a:p>
          <a:p xmlns:a="http://schemas.openxmlformats.org/drawingml/2006/main">
            <a:pPr>
              <a:defRPr sz="3675" b="1">
                <a:solidFill>
                  <a:srgbClr val="142F35"/>
                </a:solidFill>
                <a:latin typeface="Arial"/>
                <a:ea typeface="Arial"/>
                <a:cs typeface="Arial"/>
              </a:defRPr>
            </a:pPr>
            <a:r>
              <a:rPr sz="3675" b="1">
                <a:solidFill>
                  <a:srgbClr val="142F35"/>
                </a:solidFill>
                <a:latin typeface="Arial"/>
                <a:ea typeface="Arial"/>
                <a:cs typeface="Arial"/>
              </a:rPr>
              <a:t>the conversation context</a:t>
            </a:r>
          </a:p>
        </p:txBody>
      </p:sp>
      <p:sp>
        <p:nvSpPr>
          <p:cNvPr id="4" name="">
            <a:extLst xmlns:a="http://schemas.openxmlformats.org/drawingml/2006/main">
              <a:ext uri="{FF2B5EF4-FFF2-40B4-BE49-F238E27FC236}">
                <a16:creationId xmlns:a16="http://schemas.microsoft.com/office/drawing/2014/main" id="{F757C31A-BD28-479E-A42F-110C986EE43A}"/>
              </a:ext>
            </a:extLst>
          </p:cNvPr>
          <p:cNvSpPr>
            <a:spLocks xmlns:a="http://schemas.openxmlformats.org/drawingml/2006/main" noGrp="1"/>
          </p:cNvSpPr>
          <p:nvPr/>
        </p:nvSpPr>
        <p:spPr>
          <a:xfrm xmlns:a="http://schemas.openxmlformats.org/drawingml/2006/main">
            <a:off x="647700" y="3028950"/>
            <a:ext cx="628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142F35"/>
                </a:solidFill>
                <a:latin typeface="Arial"/>
                <a:ea typeface="Arial"/>
                <a:cs typeface="Arial"/>
              </a:defRPr>
            </a:defPPr>
          </a:lstStyle>
          <a:p xmlns:a="http://schemas.openxmlformats.org/drawingml/2006/main">
            <a:pPr>
              <a:defRPr sz="2775" b="1">
                <a:solidFill>
                  <a:srgbClr val="142F35"/>
                </a:solidFill>
                <a:latin typeface="Arial"/>
                <a:ea typeface="Arial"/>
                <a:cs typeface="Arial"/>
              </a:defRPr>
            </a:pPr>
            <a:r>
              <a:rPr sz="2775" b="1">
                <a:solidFill>
                  <a:srgbClr val="142F35"/>
                </a:solidFill>
                <a:latin typeface="Arial"/>
                <a:ea typeface="Arial"/>
                <a:cs typeface="Arial"/>
              </a:rPr>
              <a:t>Saved technical checks</a:t>
            </a:r>
          </a:p>
        </p:txBody>
      </p:sp>
      <p:sp>
        <p:nvSpPr>
          <p:cNvPr id="5" name="">
            <a:extLst xmlns:a="http://schemas.openxmlformats.org/drawingml/2006/main">
              <a:ext uri="{FF2B5EF4-FFF2-40B4-BE49-F238E27FC236}">
                <a16:creationId xmlns:a16="http://schemas.microsoft.com/office/drawing/2014/main" id="{42CE2612-EA89-4E46-9E1D-EB6A4F567468}"/>
              </a:ext>
            </a:extLst>
          </p:cNvPr>
          <p:cNvSpPr>
            <a:spLocks xmlns:a="http://schemas.openxmlformats.org/drawingml/2006/main" noGrp="1"/>
          </p:cNvSpPr>
          <p:nvPr/>
        </p:nvSpPr>
        <p:spPr>
          <a:xfrm xmlns:a="http://schemas.openxmlformats.org/drawingml/2006/main">
            <a:off x="647700" y="3895725"/>
            <a:ext cx="628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54706E"/>
                </a:solidFill>
                <a:latin typeface="Arial"/>
                <a:ea typeface="Arial"/>
                <a:cs typeface="Arial"/>
              </a:defRPr>
            </a:defPPr>
          </a:lstStyle>
          <a:p xmlns:a="http://schemas.openxmlformats.org/drawingml/2006/main">
            <a:pPr>
              <a:defRPr sz="2400" b="0">
                <a:solidFill>
                  <a:srgbClr val="54706E"/>
                </a:solidFill>
                <a:latin typeface="Arial"/>
                <a:ea typeface="Arial"/>
                <a:cs typeface="Arial"/>
              </a:defRPr>
            </a:pPr>
            <a:r>
              <a:rPr sz="2400" b="0">
                <a:solidFill>
                  <a:srgbClr val="54706E"/>
                </a:solidFill>
                <a:latin typeface="Arial"/>
                <a:ea typeface="Arial"/>
                <a:cs typeface="Arial"/>
              </a:rPr>
              <a:t>Evidence to review before outreach</a:t>
            </a:r>
          </a:p>
        </p:txBody>
      </p:sp>
      <p:sp>
        <p:nvSpPr>
          <p:cNvPr id="6" name="">
            <a:extLst xmlns:a="http://schemas.openxmlformats.org/drawingml/2006/main">
              <a:ext uri="{FF2B5EF4-FFF2-40B4-BE49-F238E27FC236}">
                <a16:creationId xmlns:a16="http://schemas.microsoft.com/office/drawing/2014/main" id="{41038F91-0FE6-43D5-9F61-086515F14A90}"/>
              </a:ext>
            </a:extLst>
          </p:cNvPr>
          <p:cNvSpPr>
            <a:spLocks xmlns:a="http://schemas.openxmlformats.org/drawingml/2006/main" noGrp="1"/>
          </p:cNvSpPr>
          <p:nvPr/>
        </p:nvSpPr>
        <p:spPr>
          <a:xfrm xmlns:a="http://schemas.openxmlformats.org/drawingml/2006/main">
            <a:off x="647700" y="5219700"/>
            <a:ext cx="628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4706E"/>
                </a:solidFill>
                <a:latin typeface="Arial"/>
                <a:ea typeface="Arial"/>
                <a:cs typeface="Arial"/>
              </a:defRPr>
            </a:defPPr>
          </a:lstStyle>
          <a:p xmlns:a="http://schemas.openxmlformats.org/drawingml/2006/main">
            <a:pPr>
              <a:defRPr sz="2175" b="0">
                <a:solidFill>
                  <a:srgbClr val="54706E"/>
                </a:solidFill>
                <a:latin typeface="Arial"/>
                <a:ea typeface="Arial"/>
                <a:cs typeface="Arial"/>
              </a:defRPr>
            </a:pPr>
            <a:r>
              <a:rPr sz="2175" b="0">
                <a:solidFill>
                  <a:srgbClr val="54706E"/>
                </a:solidFill>
                <a:latin typeface="Arial"/>
                <a:ea typeface="Arial"/>
                <a:cs typeface="Arial"/>
              </a:rPr>
              <a:t>Notes, shortlists and exports</a:t>
            </a:r>
          </a:p>
          <a:p xmlns:a="http://schemas.openxmlformats.org/drawingml/2006/main">
            <a:pPr>
              <a:defRPr sz="2175" b="0">
                <a:solidFill>
                  <a:srgbClr val="54706E"/>
                </a:solidFill>
                <a:latin typeface="Arial"/>
                <a:ea typeface="Arial"/>
                <a:cs typeface="Arial"/>
              </a:defRPr>
            </a:pPr>
            <a:r>
              <a:rPr sz="2175" b="0">
                <a:solidFill>
                  <a:srgbClr val="54706E"/>
                </a:solidFill>
                <a:latin typeface="Arial"/>
                <a:ea typeface="Arial"/>
                <a:cs typeface="Arial"/>
              </a:rPr>
              <a:t>keep the investigation moving</a:t>
            </a:r>
          </a:p>
        </p:txBody>
      </p:sp>
      <p:pic>
        <p:nvPicPr>
          <p:cNvPr id="7" name="">
            <a:extLst xmlns:a="http://schemas.openxmlformats.org/drawingml/2006/main">
              <a:ext uri="{FF2B5EF4-FFF2-40B4-BE49-F238E27FC236}">
                <a16:creationId xmlns:a16="http://schemas.microsoft.com/office/drawing/2014/main" id="{10112BA3-DA0A-4E48-B65A-D9E62B07FA1B}"/>
              </a:ext>
            </a:extLst>
          </p:cNvPr>
          <p:cNvPicPr>
            <a:picLocks xmlns:a="http://schemas.openxmlformats.org/drawingml/2006/main" noChangeAspect="1"/>
          </p:cNvPicPr>
          <p:nvPr/>
        </p:nvPicPr>
        <p:blipFill>
          <a:blip xmlns:r="http://schemas.openxmlformats.org/officeDocument/2006/relationships" xmlns:a="http://schemas.openxmlformats.org/drawingml/2006/main" r:embed="R8db88db7fd84491c"/>
          <a:srcRect xmlns:a="http://schemas.openxmlformats.org/drawingml/2006/main" l="63700" t="9000" r="1500" b="0"/>
          <a:stretch xmlns:a="http://schemas.openxmlformats.org/drawingml/2006/main"/>
        </p:blipFill>
        <p:spPr>
          <a:xfrm xmlns:a="http://schemas.openxmlformats.org/drawingml/2006/main">
            <a:off x="7807081" y="809625"/>
            <a:ext cx="3626338" cy="5334000"/>
          </a:xfrm>
          <a:prstGeom xmlns:a="http://schemas.openxmlformats.org/drawingml/2006/main" prst="rect">
            <a:avLst/>
          </a:prstGeom>
        </p:spPr>
      </p:pic>
    </p:spTree>
    <p:extLst>
      <p:ext uri="{BB962C8B-B14F-4D97-AF65-F5344CB8AC3E}">
        <p14:creationId xmlns:p14="http://schemas.microsoft.com/office/powerpoint/2010/main" val="2031343368"/>
      </p:ext>
    </p:extLst>
  </p:cSld>
</p:sld>
</file>

<file path=ppt/slides/slide7.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2A7421A-4542-4145-92A6-C5619880D998}"/>
              </a:ext>
            </a:extLst>
          </p:cNvPr>
          <p:cNvSpPr>
            <a:spLocks xmlns:a="http://schemas.openxmlformats.org/drawingml/2006/main" noGrp="1"/>
          </p:cNvSpPr>
          <p:nvPr/>
        </p:nvSpPr>
        <p:spPr>
          <a:xfrm xmlns:a="http://schemas.openxmlformats.org/drawingml/2006/main">
            <a:off x="609600" y="3143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54706E"/>
                </a:solidFill>
                <a:latin typeface="Arial"/>
                <a:ea typeface="Arial"/>
                <a:cs typeface="Arial"/>
              </a:defRPr>
            </a:defPPr>
          </a:lstStyle>
          <a:p xmlns:a="http://schemas.openxmlformats.org/drawingml/2006/main">
            <a:pPr>
              <a:defRPr sz="1350" b="1">
                <a:solidFill>
                  <a:srgbClr val="54706E"/>
                </a:solidFill>
                <a:latin typeface="Arial"/>
                <a:ea typeface="Arial"/>
                <a:cs typeface="Arial"/>
              </a:defRPr>
            </a:pPr>
            <a:r>
              <a:rPr sz="1350" b="1">
                <a:solidFill>
                  <a:srgbClr val="54706E"/>
                </a:solidFill>
                <a:latin typeface="Arial"/>
                <a:ea typeface="Arial"/>
                <a:cs typeface="Arial"/>
              </a:rPr>
              <a:t>PITTSBURGH IQ</a:t>
            </a:r>
          </a:p>
        </p:txBody>
      </p:sp>
      <p:sp>
        <p:nvSpPr>
          <p:cNvPr id="2" name="">
            <a:extLst xmlns:a="http://schemas.openxmlformats.org/drawingml/2006/main">
              <a:ext uri="{FF2B5EF4-FFF2-40B4-BE49-F238E27FC236}">
                <a16:creationId xmlns:a16="http://schemas.microsoft.com/office/drawing/2014/main" id="{540E4855-617C-47CE-B114-54BDC22E56D1}"/>
              </a:ext>
            </a:extLst>
          </p:cNvPr>
          <p:cNvSpPr>
            <a:spLocks xmlns:a="http://schemas.openxmlformats.org/drawingml/2006/main" noGrp="1"/>
          </p:cNvSpPr>
          <p:nvPr/>
        </p:nvSpPr>
        <p:spPr>
          <a:xfrm xmlns:a="http://schemas.openxmlformats.org/drawingml/2006/main">
            <a:off x="11049000" y="61912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4706E"/>
                </a:solidFill>
                <a:latin typeface="Arial"/>
                <a:ea typeface="Arial"/>
                <a:cs typeface="Arial"/>
              </a:defRPr>
            </a:defPPr>
          </a:lstStyle>
          <a:p xmlns:a="http://schemas.openxmlformats.org/drawingml/2006/main">
            <a:pPr>
              <a:defRPr sz="1350" b="0">
                <a:solidFill>
                  <a:srgbClr val="54706E"/>
                </a:solidFill>
                <a:latin typeface="Arial"/>
                <a:ea typeface="Arial"/>
                <a:cs typeface="Arial"/>
              </a:defRPr>
            </a:pPr>
            <a:r>
              <a:rPr sz="1350" b="0">
                <a:solidFill>
                  <a:srgbClr val="54706E"/>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39E58848-62F7-4043-9604-CA970A0EB62B}"/>
              </a:ext>
            </a:extLst>
          </p:cNvPr>
          <p:cNvSpPr>
            <a:spLocks xmlns:a="http://schemas.openxmlformats.org/drawingml/2006/main" noGrp="1"/>
          </p:cNvSpPr>
          <p:nvPr/>
        </p:nvSpPr>
        <p:spPr>
          <a:xfrm xmlns:a="http://schemas.openxmlformats.org/drawingml/2006/main">
            <a:off x="609600" y="99060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42F35"/>
                </a:solidFill>
                <a:latin typeface="Arial"/>
                <a:ea typeface="Arial"/>
                <a:cs typeface="Arial"/>
              </a:defRPr>
            </a:defPPr>
          </a:lstStyle>
          <a:p xmlns:a="http://schemas.openxmlformats.org/drawingml/2006/main">
            <a:pPr>
              <a:defRPr sz="3900" b="1">
                <a:solidFill>
                  <a:srgbClr val="142F35"/>
                </a:solidFill>
                <a:latin typeface="Arial"/>
                <a:ea typeface="Arial"/>
                <a:cs typeface="Arial"/>
              </a:defRPr>
            </a:pPr>
            <a:r>
              <a:rPr sz="3900" b="1">
                <a:solidFill>
                  <a:srgbClr val="142F35"/>
                </a:solidFill>
                <a:latin typeface="Arial"/>
                <a:ea typeface="Arial"/>
                <a:cs typeface="Arial"/>
              </a:rPr>
              <a:t>AI works with collected research</a:t>
            </a:r>
          </a:p>
        </p:txBody>
      </p:sp>
      <p:sp>
        <p:nvSpPr>
          <p:cNvPr id="4" name="">
            <a:extLst xmlns:a="http://schemas.openxmlformats.org/drawingml/2006/main">
              <a:ext uri="{FF2B5EF4-FFF2-40B4-BE49-F238E27FC236}">
                <a16:creationId xmlns:a16="http://schemas.microsoft.com/office/drawing/2014/main" id="{25AA9173-6946-456D-B787-3DE0C0AF4AE9}"/>
              </a:ext>
            </a:extLst>
          </p:cNvPr>
          <p:cNvSpPr>
            <a:spLocks xmlns:a="http://schemas.openxmlformats.org/drawingml/2006/main" noGrp="1"/>
          </p:cNvSpPr>
          <p:nvPr/>
        </p:nvSpPr>
        <p:spPr>
          <a:xfrm xmlns:a="http://schemas.openxmlformats.org/drawingml/2006/main">
            <a:off x="647700" y="23812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42F35"/>
                </a:solidFill>
                <a:latin typeface="Arial"/>
                <a:ea typeface="Arial"/>
                <a:cs typeface="Arial"/>
              </a:defRPr>
            </a:defPPr>
          </a:lstStyle>
          <a:p xmlns:a="http://schemas.openxmlformats.org/drawingml/2006/main">
            <a:pPr>
              <a:defRPr sz="3000" b="1">
                <a:solidFill>
                  <a:srgbClr val="142F35"/>
                </a:solidFill>
                <a:latin typeface="Arial"/>
                <a:ea typeface="Arial"/>
                <a:cs typeface="Arial"/>
              </a:defRPr>
            </a:pPr>
            <a:r>
              <a:rPr sz="3000" b="1">
                <a:solidFill>
                  <a:srgbClr val="142F35"/>
                </a:solidFill>
                <a:latin typeface="Arial"/>
                <a:ea typeface="Arial"/>
                <a:cs typeface="Arial"/>
              </a:rPr>
              <a:t>01   Retrieve relevant evidence</a:t>
            </a:r>
          </a:p>
        </p:txBody>
      </p:sp>
      <p:sp>
        <p:nvSpPr>
          <p:cNvPr id="5" name="">
            <a:extLst xmlns:a="http://schemas.openxmlformats.org/drawingml/2006/main">
              <a:ext uri="{FF2B5EF4-FFF2-40B4-BE49-F238E27FC236}">
                <a16:creationId xmlns:a16="http://schemas.microsoft.com/office/drawing/2014/main" id="{E38FD13B-E281-4C42-9370-6A4D8F341655}"/>
              </a:ext>
            </a:extLst>
          </p:cNvPr>
          <p:cNvSpPr>
            <a:spLocks xmlns:a="http://schemas.openxmlformats.org/drawingml/2006/main" noGrp="1"/>
          </p:cNvSpPr>
          <p:nvPr/>
        </p:nvSpPr>
        <p:spPr>
          <a:xfrm xmlns:a="http://schemas.openxmlformats.org/drawingml/2006/main">
            <a:off x="647700" y="32861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42F35"/>
                </a:solidFill>
                <a:latin typeface="Arial"/>
                <a:ea typeface="Arial"/>
                <a:cs typeface="Arial"/>
              </a:defRPr>
            </a:defPPr>
          </a:lstStyle>
          <a:p xmlns:a="http://schemas.openxmlformats.org/drawingml/2006/main">
            <a:pPr>
              <a:defRPr sz="3000" b="1">
                <a:solidFill>
                  <a:srgbClr val="142F35"/>
                </a:solidFill>
                <a:latin typeface="Arial"/>
                <a:ea typeface="Arial"/>
                <a:cs typeface="Arial"/>
              </a:defRPr>
            </a:pPr>
            <a:r>
              <a:rPr sz="3000" b="1">
                <a:solidFill>
                  <a:srgbClr val="142F35"/>
                </a:solidFill>
                <a:latin typeface="Arial"/>
                <a:ea typeface="Arial"/>
                <a:cs typeface="Arial"/>
              </a:rPr>
              <a:t>02   Interpret with an optional model</a:t>
            </a:r>
          </a:p>
        </p:txBody>
      </p:sp>
      <p:sp>
        <p:nvSpPr>
          <p:cNvPr id="6" name="">
            <a:extLst xmlns:a="http://schemas.openxmlformats.org/drawingml/2006/main">
              <a:ext uri="{FF2B5EF4-FFF2-40B4-BE49-F238E27FC236}">
                <a16:creationId xmlns:a16="http://schemas.microsoft.com/office/drawing/2014/main" id="{A80A0EEE-6972-4733-8AD9-0112F118A636}"/>
              </a:ext>
            </a:extLst>
          </p:cNvPr>
          <p:cNvSpPr>
            <a:spLocks xmlns:a="http://schemas.openxmlformats.org/drawingml/2006/main" noGrp="1"/>
          </p:cNvSpPr>
          <p:nvPr/>
        </p:nvSpPr>
        <p:spPr>
          <a:xfrm xmlns:a="http://schemas.openxmlformats.org/drawingml/2006/main">
            <a:off x="647700" y="41910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42F35"/>
                </a:solidFill>
                <a:latin typeface="Arial"/>
                <a:ea typeface="Arial"/>
                <a:cs typeface="Arial"/>
              </a:defRPr>
            </a:defPPr>
          </a:lstStyle>
          <a:p xmlns:a="http://schemas.openxmlformats.org/drawingml/2006/main">
            <a:pPr>
              <a:defRPr sz="3000" b="1">
                <a:solidFill>
                  <a:srgbClr val="142F35"/>
                </a:solidFill>
                <a:latin typeface="Arial"/>
                <a:ea typeface="Arial"/>
                <a:cs typeface="Arial"/>
              </a:defRPr>
            </a:pPr>
            <a:r>
              <a:rPr sz="3000" b="1">
                <a:solidFill>
                  <a:srgbClr val="142F35"/>
                </a:solidFill>
                <a:latin typeface="Arial"/>
                <a:ea typeface="Arial"/>
                <a:cs typeface="Arial"/>
              </a:rPr>
              <a:t>03   Validate returned references</a:t>
            </a:r>
          </a:p>
        </p:txBody>
      </p:sp>
      <p:sp>
        <p:nvSpPr>
          <p:cNvPr id="7" name="">
            <a:extLst xmlns:a="http://schemas.openxmlformats.org/drawingml/2006/main">
              <a:ext uri="{FF2B5EF4-FFF2-40B4-BE49-F238E27FC236}">
                <a16:creationId xmlns:a16="http://schemas.microsoft.com/office/drawing/2014/main" id="{EA86859C-5584-47F5-9C75-E6F842E486FB}"/>
              </a:ext>
            </a:extLst>
          </p:cNvPr>
          <p:cNvSpPr>
            <a:spLocks xmlns:a="http://schemas.openxmlformats.org/drawingml/2006/main" noGrp="1"/>
          </p:cNvSpPr>
          <p:nvPr/>
        </p:nvSpPr>
        <p:spPr>
          <a:xfrm xmlns:a="http://schemas.openxmlformats.org/drawingml/2006/main">
            <a:off x="647700" y="53244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4706E"/>
                </a:solidFill>
                <a:latin typeface="Arial"/>
                <a:ea typeface="Arial"/>
                <a:cs typeface="Arial"/>
              </a:defRPr>
            </a:defPPr>
          </a:lstStyle>
          <a:p xmlns:a="http://schemas.openxmlformats.org/drawingml/2006/main">
            <a:pPr>
              <a:defRPr sz="1950" b="0">
                <a:solidFill>
                  <a:srgbClr val="54706E"/>
                </a:solidFill>
                <a:latin typeface="Arial"/>
                <a:ea typeface="Arial"/>
                <a:cs typeface="Arial"/>
              </a:defRPr>
            </a:pPr>
            <a:r>
              <a:rPr sz="1950" b="0">
                <a:solidFill>
                  <a:srgbClr val="54706E"/>
                </a:solidFill>
                <a:latin typeface="Arial"/>
                <a:ea typeface="Arial"/>
                <a:cs typeface="Arial"/>
              </a:rPr>
              <a:t>Local CPU prototype: 0.5B model, about 12 seconds in one test</a:t>
            </a:r>
          </a:p>
        </p:txBody>
      </p:sp>
      <p:sp>
        <p:nvSpPr>
          <p:cNvPr id="8" name="">
            <a:extLst xmlns:a="http://schemas.openxmlformats.org/drawingml/2006/main">
              <a:ext uri="{FF2B5EF4-FFF2-40B4-BE49-F238E27FC236}">
                <a16:creationId xmlns:a16="http://schemas.microsoft.com/office/drawing/2014/main" id="{1D75B493-A07E-4948-A28E-A96DCDE85895}"/>
              </a:ext>
            </a:extLst>
          </p:cNvPr>
          <p:cNvSpPr>
            <a:spLocks xmlns:a="http://schemas.openxmlformats.org/drawingml/2006/main" noGrp="1"/>
          </p:cNvSpPr>
          <p:nvPr/>
        </p:nvSpPr>
        <p:spPr>
          <a:xfrm xmlns:a="http://schemas.openxmlformats.org/drawingml/2006/main">
            <a:off x="647700" y="59055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4706E"/>
                </a:solidFill>
                <a:latin typeface="Arial"/>
                <a:ea typeface="Arial"/>
                <a:cs typeface="Arial"/>
              </a:defRPr>
            </a:defPPr>
          </a:lstStyle>
          <a:p xmlns:a="http://schemas.openxmlformats.org/drawingml/2006/main">
            <a:pPr>
              <a:defRPr sz="1650" b="0">
                <a:solidFill>
                  <a:srgbClr val="54706E"/>
                </a:solidFill>
                <a:latin typeface="Arial"/>
                <a:ea typeface="Arial"/>
                <a:cs typeface="Arial"/>
              </a:defRPr>
            </a:pPr>
            <a:r>
              <a:rPr sz="1650" b="0">
                <a:solidFill>
                  <a:srgbClr val="54706E"/>
                </a:solidFill>
                <a:latin typeface="Arial"/>
                <a:ea typeface="Arial"/>
                <a:cs typeface="Arial"/>
              </a:rPr>
              <a:t>Experimental accuracy. Sources remain available for human review.</a:t>
            </a:r>
          </a:p>
        </p:txBody>
      </p:sp>
    </p:spTree>
    <p:extLst>
      <p:ext uri="{BB962C8B-B14F-4D97-AF65-F5344CB8AC3E}">
        <p14:creationId xmlns:p14="http://schemas.microsoft.com/office/powerpoint/2010/main" val="957848932"/>
      </p:ext>
    </p:extLst>
  </p:cSld>
</p:sld>
</file>

<file path=ppt/slides/slide8.xml><?xml version="1.0" encoding="utf-8"?>
<p:sld xmlns:p="http://schemas.openxmlformats.org/presentationml/2006/main">
  <p:cSld>
    <p:bg>
      <p:bgPr>
        <a:solidFill xmlns:a="http://schemas.openxmlformats.org/drawingml/2006/main">
          <a:srgbClr val="142F3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5FA36D5-5C2C-43A3-8D81-AA1CF29F3519}"/>
              </a:ext>
            </a:extLst>
          </p:cNvPr>
          <p:cNvSpPr>
            <a:spLocks xmlns:a="http://schemas.openxmlformats.org/drawingml/2006/main" noGrp="1"/>
          </p:cNvSpPr>
          <p:nvPr/>
        </p:nvSpPr>
        <p:spPr>
          <a:xfrm xmlns:a="http://schemas.openxmlformats.org/drawingml/2006/main">
            <a:off x="609600" y="3143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70D1BB"/>
                </a:solidFill>
                <a:latin typeface="Arial"/>
                <a:ea typeface="Arial"/>
                <a:cs typeface="Arial"/>
              </a:defRPr>
            </a:defPPr>
          </a:lstStyle>
          <a:p xmlns:a="http://schemas.openxmlformats.org/drawingml/2006/main">
            <a:pPr>
              <a:defRPr sz="1350" b="1">
                <a:solidFill>
                  <a:srgbClr val="70D1BB"/>
                </a:solidFill>
                <a:latin typeface="Arial"/>
                <a:ea typeface="Arial"/>
                <a:cs typeface="Arial"/>
              </a:defRPr>
            </a:pPr>
            <a:r>
              <a:rPr sz="1350" b="1">
                <a:solidFill>
                  <a:srgbClr val="70D1BB"/>
                </a:solidFill>
                <a:latin typeface="Arial"/>
                <a:ea typeface="Arial"/>
                <a:cs typeface="Arial"/>
              </a:rPr>
              <a:t>PITTSBURGH IQ</a:t>
            </a:r>
          </a:p>
        </p:txBody>
      </p:sp>
      <p:sp>
        <p:nvSpPr>
          <p:cNvPr id="2" name="">
            <a:extLst xmlns:a="http://schemas.openxmlformats.org/drawingml/2006/main">
              <a:ext uri="{FF2B5EF4-FFF2-40B4-BE49-F238E27FC236}">
                <a16:creationId xmlns:a16="http://schemas.microsoft.com/office/drawing/2014/main" id="{9F356DCF-B248-4DBF-B1C4-10183053D9C1}"/>
              </a:ext>
            </a:extLst>
          </p:cNvPr>
          <p:cNvSpPr>
            <a:spLocks xmlns:a="http://schemas.openxmlformats.org/drawingml/2006/main" noGrp="1"/>
          </p:cNvSpPr>
          <p:nvPr/>
        </p:nvSpPr>
        <p:spPr>
          <a:xfrm xmlns:a="http://schemas.openxmlformats.org/drawingml/2006/main">
            <a:off x="11049000" y="61912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70D1BB"/>
                </a:solidFill>
                <a:latin typeface="Arial"/>
                <a:ea typeface="Arial"/>
                <a:cs typeface="Arial"/>
              </a:defRPr>
            </a:defPPr>
          </a:lstStyle>
          <a:p xmlns:a="http://schemas.openxmlformats.org/drawingml/2006/main">
            <a:pPr>
              <a:defRPr sz="1350" b="0">
                <a:solidFill>
                  <a:srgbClr val="70D1BB"/>
                </a:solidFill>
                <a:latin typeface="Arial"/>
                <a:ea typeface="Arial"/>
                <a:cs typeface="Arial"/>
              </a:defRPr>
            </a:pPr>
            <a:r>
              <a:rPr sz="1350" b="0">
                <a:solidFill>
                  <a:srgbClr val="70D1BB"/>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6563FBC4-4DEE-48AB-9108-A670B461C362}"/>
              </a:ext>
            </a:extLst>
          </p:cNvPr>
          <p:cNvSpPr>
            <a:spLocks xmlns:a="http://schemas.openxmlformats.org/drawingml/2006/main" noGrp="1"/>
          </p:cNvSpPr>
          <p:nvPr/>
        </p:nvSpPr>
        <p:spPr>
          <a:xfrm xmlns:a="http://schemas.openxmlformats.org/drawingml/2006/main">
            <a:off x="609600" y="10001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00" b="1">
                <a:solidFill>
                  <a:srgbClr val="FFFFFF"/>
                </a:solidFill>
                <a:latin typeface="Arial"/>
                <a:ea typeface="Arial"/>
                <a:cs typeface="Arial"/>
              </a:defRPr>
            </a:defPPr>
          </a:lstStyle>
          <a:p xmlns:a="http://schemas.openxmlformats.org/drawingml/2006/main">
            <a:pPr>
              <a:defRPr sz="4200" b="1">
                <a:solidFill>
                  <a:srgbClr val="FFFFFF"/>
                </a:solidFill>
                <a:latin typeface="Arial"/>
                <a:ea typeface="Arial"/>
                <a:cs typeface="Arial"/>
              </a:defRPr>
            </a:pPr>
            <a:r>
              <a:rPr sz="4200" b="1">
                <a:solidFill>
                  <a:srgbClr val="FFFFFF"/>
                </a:solidFill>
                <a:latin typeface="Arial"/>
                <a:ea typeface="Arial"/>
                <a:cs typeface="Arial"/>
              </a:rPr>
              <a:t>Focused retrieval, measured</a:t>
            </a:r>
          </a:p>
        </p:txBody>
      </p:sp>
      <p:sp>
        <p:nvSpPr>
          <p:cNvPr id="4" name="">
            <a:extLst xmlns:a="http://schemas.openxmlformats.org/drawingml/2006/main">
              <a:ext uri="{FF2B5EF4-FFF2-40B4-BE49-F238E27FC236}">
                <a16:creationId xmlns:a16="http://schemas.microsoft.com/office/drawing/2014/main" id="{BB4D19AA-4BC1-49D0-B9D6-BEF12DB4786E}"/>
              </a:ext>
            </a:extLst>
          </p:cNvPr>
          <p:cNvSpPr>
            <a:spLocks xmlns:a="http://schemas.openxmlformats.org/drawingml/2006/main" noGrp="1"/>
          </p:cNvSpPr>
          <p:nvPr/>
        </p:nvSpPr>
        <p:spPr>
          <a:xfrm xmlns:a="http://schemas.openxmlformats.org/drawingml/2006/main">
            <a:off x="609600" y="2476500"/>
            <a:ext cx="476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800" b="1">
                <a:solidFill>
                  <a:srgbClr val="70D1BB"/>
                </a:solidFill>
                <a:latin typeface="Arial"/>
                <a:ea typeface="Arial"/>
                <a:cs typeface="Arial"/>
              </a:defRPr>
            </a:defPPr>
          </a:lstStyle>
          <a:p xmlns:a="http://schemas.openxmlformats.org/drawingml/2006/main">
            <a:pPr>
              <a:defRPr sz="7800" b="1">
                <a:solidFill>
                  <a:srgbClr val="70D1BB"/>
                </a:solidFill>
                <a:latin typeface="Arial"/>
                <a:ea typeface="Arial"/>
                <a:cs typeface="Arial"/>
              </a:defRPr>
            </a:pPr>
            <a:r>
              <a:rPr sz="7800" b="1">
                <a:solidFill>
                  <a:srgbClr val="70D1BB"/>
                </a:solidFill>
                <a:latin typeface="Arial"/>
                <a:ea typeface="Arial"/>
                <a:cs typeface="Arial"/>
              </a:rPr>
              <a:t>4 / 4</a:t>
            </a:r>
          </a:p>
        </p:txBody>
      </p:sp>
      <p:sp>
        <p:nvSpPr>
          <p:cNvPr id="5" name="">
            <a:extLst xmlns:a="http://schemas.openxmlformats.org/drawingml/2006/main">
              <a:ext uri="{FF2B5EF4-FFF2-40B4-BE49-F238E27FC236}">
                <a16:creationId xmlns:a16="http://schemas.microsoft.com/office/drawing/2014/main" id="{1FC41457-6103-4CA2-8829-BF8C36E7B2E8}"/>
              </a:ext>
            </a:extLst>
          </p:cNvPr>
          <p:cNvSpPr>
            <a:spLocks xmlns:a="http://schemas.openxmlformats.org/drawingml/2006/main" noGrp="1"/>
          </p:cNvSpPr>
          <p:nvPr/>
        </p:nvSpPr>
        <p:spPr>
          <a:xfrm xmlns:a="http://schemas.openxmlformats.org/drawingml/2006/main">
            <a:off x="647700" y="3905250"/>
            <a:ext cx="4953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FFFFF"/>
                </a:solidFill>
                <a:latin typeface="Arial"/>
                <a:ea typeface="Arial"/>
                <a:cs typeface="Arial"/>
              </a:defRPr>
            </a:defPPr>
          </a:lstStyle>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exact expected result sets</a:t>
            </a:r>
          </a:p>
        </p:txBody>
      </p:sp>
      <p:sp>
        <p:nvSpPr>
          <p:cNvPr id="6" name="">
            <a:extLst xmlns:a="http://schemas.openxmlformats.org/drawingml/2006/main">
              <a:ext uri="{FF2B5EF4-FFF2-40B4-BE49-F238E27FC236}">
                <a16:creationId xmlns:a16="http://schemas.microsoft.com/office/drawing/2014/main" id="{65D3C6B8-E9BE-4CD7-BBE8-7540FFCC2017}"/>
              </a:ext>
            </a:extLst>
          </p:cNvPr>
          <p:cNvSpPr>
            <a:spLocks xmlns:a="http://schemas.openxmlformats.org/drawingml/2006/main" noGrp="1"/>
          </p:cNvSpPr>
          <p:nvPr/>
        </p:nvSpPr>
        <p:spPr>
          <a:xfrm xmlns:a="http://schemas.openxmlformats.org/drawingml/2006/main">
            <a:off x="6858000" y="2476500"/>
            <a:ext cx="4381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800" b="1">
                <a:solidFill>
                  <a:srgbClr val="70D1BB"/>
                </a:solidFill>
                <a:latin typeface="Arial"/>
                <a:ea typeface="Arial"/>
                <a:cs typeface="Arial"/>
              </a:defRPr>
            </a:defPPr>
          </a:lstStyle>
          <a:p xmlns:a="http://schemas.openxmlformats.org/drawingml/2006/main">
            <a:pPr>
              <a:defRPr sz="7800" b="1">
                <a:solidFill>
                  <a:srgbClr val="70D1BB"/>
                </a:solidFill>
                <a:latin typeface="Arial"/>
                <a:ea typeface="Arial"/>
                <a:cs typeface="Arial"/>
              </a:defRPr>
            </a:pPr>
            <a:r>
              <a:rPr sz="7800" b="1">
                <a:solidFill>
                  <a:srgbClr val="70D1BB"/>
                </a:solidFill>
                <a:latin typeface="Arial"/>
                <a:ea typeface="Arial"/>
                <a:cs typeface="Arial"/>
              </a:rPr>
              <a:t>83%</a:t>
            </a:r>
          </a:p>
        </p:txBody>
      </p:sp>
      <p:sp>
        <p:nvSpPr>
          <p:cNvPr id="7" name="">
            <a:extLst xmlns:a="http://schemas.openxmlformats.org/drawingml/2006/main">
              <a:ext uri="{FF2B5EF4-FFF2-40B4-BE49-F238E27FC236}">
                <a16:creationId xmlns:a16="http://schemas.microsoft.com/office/drawing/2014/main" id="{9072AAE8-393B-435D-B265-B9446D95547D}"/>
              </a:ext>
            </a:extLst>
          </p:cNvPr>
          <p:cNvSpPr>
            <a:spLocks xmlns:a="http://schemas.openxmlformats.org/drawingml/2006/main" noGrp="1"/>
          </p:cNvSpPr>
          <p:nvPr/>
        </p:nvSpPr>
        <p:spPr>
          <a:xfrm xmlns:a="http://schemas.openxmlformats.org/drawingml/2006/main">
            <a:off x="6896100" y="3905250"/>
            <a:ext cx="4572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FFFFF"/>
                </a:solidFill>
                <a:latin typeface="Arial"/>
                <a:ea typeface="Arial"/>
                <a:cs typeface="Arial"/>
              </a:defRPr>
            </a:defPPr>
          </a:lstStyle>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less context text</a:t>
            </a:r>
          </a:p>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in the office-prospect test</a:t>
            </a:r>
          </a:p>
        </p:txBody>
      </p:sp>
      <p:sp>
        <p:nvSpPr>
          <p:cNvPr id="8" name="">
            <a:extLst xmlns:a="http://schemas.openxmlformats.org/drawingml/2006/main">
              <a:ext uri="{FF2B5EF4-FFF2-40B4-BE49-F238E27FC236}">
                <a16:creationId xmlns:a16="http://schemas.microsoft.com/office/drawing/2014/main" id="{C55B5072-E95E-49E5-B7CB-08289160EDF7}"/>
              </a:ext>
            </a:extLst>
          </p:cNvPr>
          <p:cNvSpPr>
            <a:spLocks xmlns:a="http://schemas.openxmlformats.org/drawingml/2006/main" noGrp="1"/>
          </p:cNvSpPr>
          <p:nvPr/>
        </p:nvSpPr>
        <p:spPr>
          <a:xfrm xmlns:a="http://schemas.openxmlformats.org/drawingml/2006/main">
            <a:off x="647700" y="57721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B5C9C5"/>
                </a:solidFill>
                <a:latin typeface="Arial"/>
                <a:ea typeface="Arial"/>
                <a:cs typeface="Arial"/>
              </a:defRPr>
            </a:defPPr>
          </a:lstStyle>
          <a:p xmlns:a="http://schemas.openxmlformats.org/drawingml/2006/main">
            <a:pPr>
              <a:defRPr sz="1650" b="0">
                <a:solidFill>
                  <a:srgbClr val="B5C9C5"/>
                </a:solidFill>
                <a:latin typeface="Arial"/>
                <a:ea typeface="Arial"/>
                <a:cs typeface="Arial"/>
              </a:defRPr>
            </a:pPr>
            <a:r>
              <a:rPr sz="1650" b="0">
                <a:solidFill>
                  <a:srgbClr val="B5C9C5"/>
                </a:solidFill>
                <a:latin typeface="Arial"/>
                <a:ea typeface="Arial"/>
                <a:cs typeface="Arial"/>
              </a:rPr>
              <a:t>Four synthetic scenarios. Character counts, not measured token savings.</a:t>
            </a:r>
          </a:p>
        </p:txBody>
      </p:sp>
    </p:spTree>
    <p:extLst>
      <p:ext uri="{BB962C8B-B14F-4D97-AF65-F5344CB8AC3E}">
        <p14:creationId xmlns:p14="http://schemas.microsoft.com/office/powerpoint/2010/main" val="1333424926"/>
      </p:ext>
    </p:extLst>
  </p:cSld>
</p:sld>
</file>

<file path=ppt/slides/slide9.xml><?xml version="1.0" encoding="utf-8"?>
<p:sld xmlns:p="http://schemas.openxmlformats.org/presentationml/2006/main">
  <p:cSld>
    <p:bg>
      <p:bgPr>
        <a:solidFill xmlns:a="http://schemas.openxmlformats.org/drawingml/2006/main">
          <a:srgbClr val="142F3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66E131D-0EA0-4FE3-97CD-9550FD5C063B}"/>
              </a:ext>
            </a:extLst>
          </p:cNvPr>
          <p:cNvSpPr>
            <a:spLocks xmlns:a="http://schemas.openxmlformats.org/drawingml/2006/main" noGrp="1"/>
          </p:cNvSpPr>
          <p:nvPr/>
        </p:nvSpPr>
        <p:spPr>
          <a:xfrm xmlns:a="http://schemas.openxmlformats.org/drawingml/2006/main">
            <a:off x="609600" y="3143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70D1BB"/>
                </a:solidFill>
                <a:latin typeface="Arial"/>
                <a:ea typeface="Arial"/>
                <a:cs typeface="Arial"/>
              </a:defRPr>
            </a:defPPr>
          </a:lstStyle>
          <a:p xmlns:a="http://schemas.openxmlformats.org/drawingml/2006/main">
            <a:pPr>
              <a:defRPr sz="1350" b="1">
                <a:solidFill>
                  <a:srgbClr val="70D1BB"/>
                </a:solidFill>
                <a:latin typeface="Arial"/>
                <a:ea typeface="Arial"/>
                <a:cs typeface="Arial"/>
              </a:defRPr>
            </a:pPr>
            <a:r>
              <a:rPr sz="1350" b="1">
                <a:solidFill>
                  <a:srgbClr val="70D1BB"/>
                </a:solidFill>
                <a:latin typeface="Arial"/>
                <a:ea typeface="Arial"/>
                <a:cs typeface="Arial"/>
              </a:rPr>
              <a:t>PITTSBURGH IQ</a:t>
            </a:r>
          </a:p>
        </p:txBody>
      </p:sp>
      <p:sp>
        <p:nvSpPr>
          <p:cNvPr id="2" name="">
            <a:extLst xmlns:a="http://schemas.openxmlformats.org/drawingml/2006/main">
              <a:ext uri="{FF2B5EF4-FFF2-40B4-BE49-F238E27FC236}">
                <a16:creationId xmlns:a16="http://schemas.microsoft.com/office/drawing/2014/main" id="{D6DB085B-968D-42A8-BA32-56FB3C4D57FC}"/>
              </a:ext>
            </a:extLst>
          </p:cNvPr>
          <p:cNvSpPr>
            <a:spLocks xmlns:a="http://schemas.openxmlformats.org/drawingml/2006/main" noGrp="1"/>
          </p:cNvSpPr>
          <p:nvPr/>
        </p:nvSpPr>
        <p:spPr>
          <a:xfrm xmlns:a="http://schemas.openxmlformats.org/drawingml/2006/main">
            <a:off x="11049000" y="61912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70D1BB"/>
                </a:solidFill>
                <a:latin typeface="Arial"/>
                <a:ea typeface="Arial"/>
                <a:cs typeface="Arial"/>
              </a:defRPr>
            </a:defPPr>
          </a:lstStyle>
          <a:p xmlns:a="http://schemas.openxmlformats.org/drawingml/2006/main">
            <a:pPr>
              <a:defRPr sz="1350" b="0">
                <a:solidFill>
                  <a:srgbClr val="70D1BB"/>
                </a:solidFill>
                <a:latin typeface="Arial"/>
                <a:ea typeface="Arial"/>
                <a:cs typeface="Arial"/>
              </a:defRPr>
            </a:pPr>
            <a:r>
              <a:rPr sz="1350" b="0">
                <a:solidFill>
                  <a:srgbClr val="70D1BB"/>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6573BFA2-429F-4B10-8A91-351310BB1D54}"/>
              </a:ext>
            </a:extLst>
          </p:cNvPr>
          <p:cNvSpPr>
            <a:spLocks xmlns:a="http://schemas.openxmlformats.org/drawingml/2006/main" noGrp="1"/>
          </p:cNvSpPr>
          <p:nvPr/>
        </p:nvSpPr>
        <p:spPr>
          <a:xfrm xmlns:a="http://schemas.openxmlformats.org/drawingml/2006/main">
            <a:off x="609600" y="1076325"/>
            <a:ext cx="1085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950" b="1">
                <a:solidFill>
                  <a:srgbClr val="FFFFFF"/>
                </a:solidFill>
                <a:latin typeface="Arial"/>
                <a:ea typeface="Arial"/>
                <a:cs typeface="Arial"/>
              </a:defRPr>
            </a:defPPr>
          </a:lstStyle>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Research the next person</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can continue</a:t>
            </a:r>
          </a:p>
        </p:txBody>
      </p:sp>
      <p:sp>
        <p:nvSpPr>
          <p:cNvPr id="4" name="">
            <a:extLst xmlns:a="http://schemas.openxmlformats.org/drawingml/2006/main">
              <a:ext uri="{FF2B5EF4-FFF2-40B4-BE49-F238E27FC236}">
                <a16:creationId xmlns:a16="http://schemas.microsoft.com/office/drawing/2014/main" id="{0ED31358-AB28-4E5E-BD5D-93F4F16456CE}"/>
              </a:ext>
            </a:extLst>
          </p:cNvPr>
          <p:cNvSpPr>
            <a:spLocks xmlns:a="http://schemas.openxmlformats.org/drawingml/2006/main" noGrp="1"/>
          </p:cNvSpPr>
          <p:nvPr/>
        </p:nvSpPr>
        <p:spPr>
          <a:xfrm xmlns:a="http://schemas.openxmlformats.org/drawingml/2006/main">
            <a:off x="647700" y="338137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0">
                <a:solidFill>
                  <a:srgbClr val="70D1BB"/>
                </a:solidFill>
                <a:latin typeface="Arial"/>
                <a:ea typeface="Arial"/>
                <a:cs typeface="Arial"/>
              </a:defRPr>
            </a:defPPr>
          </a:lstStyle>
          <a:p xmlns:a="http://schemas.openxmlformats.org/drawingml/2006/main">
            <a:pPr>
              <a:defRPr sz="2625" b="0">
                <a:solidFill>
                  <a:srgbClr val="70D1BB"/>
                </a:solidFill>
                <a:latin typeface="Arial"/>
                <a:ea typeface="Arial"/>
                <a:cs typeface="Arial"/>
              </a:defRPr>
            </a:pPr>
            <a:r>
              <a:rPr sz="2625" b="0">
                <a:solidFill>
                  <a:srgbClr val="70D1BB"/>
                </a:solidFill>
                <a:latin typeface="Arial"/>
                <a:ea typeface="Arial"/>
                <a:cs typeface="Arial"/>
              </a:rPr>
              <a:t>Persistent records, backups and an API</a:t>
            </a:r>
          </a:p>
        </p:txBody>
      </p:sp>
      <p:sp>
        <p:nvSpPr>
          <p:cNvPr id="5" name="">
            <a:extLst xmlns:a="http://schemas.openxmlformats.org/drawingml/2006/main">
              <a:ext uri="{FF2B5EF4-FFF2-40B4-BE49-F238E27FC236}">
                <a16:creationId xmlns:a16="http://schemas.microsoft.com/office/drawing/2014/main" id="{D8B5BF6D-F912-469D-AB63-F35552AA3BF6}"/>
              </a:ext>
            </a:extLst>
          </p:cNvPr>
          <p:cNvSpPr>
            <a:spLocks xmlns:a="http://schemas.openxmlformats.org/drawingml/2006/main" noGrp="1"/>
          </p:cNvSpPr>
          <p:nvPr/>
        </p:nvSpPr>
        <p:spPr>
          <a:xfrm xmlns:a="http://schemas.openxmlformats.org/drawingml/2006/main">
            <a:off x="647700" y="44291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FFFFF"/>
                </a:solidFill>
                <a:latin typeface="Arial"/>
                <a:ea typeface="Arial"/>
                <a:cs typeface="Arial"/>
              </a:defRPr>
            </a:defPPr>
          </a:lstStyle>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Next: evaluate 20 offices and school districts</a:t>
            </a:r>
          </a:p>
        </p:txBody>
      </p:sp>
      <p:sp>
        <p:nvSpPr>
          <p:cNvPr id="6" name="">
            <a:extLst xmlns:a="http://schemas.openxmlformats.org/drawingml/2006/main">
              <a:ext uri="{FF2B5EF4-FFF2-40B4-BE49-F238E27FC236}">
                <a16:creationId xmlns:a16="http://schemas.microsoft.com/office/drawing/2014/main" id="{0500D7B7-6BFF-4BA3-B6A0-6D8EC6229E19}"/>
              </a:ext>
            </a:extLst>
          </p:cNvPr>
          <p:cNvSpPr>
            <a:spLocks xmlns:a="http://schemas.openxmlformats.org/drawingml/2006/main" noGrp="1"/>
          </p:cNvSpPr>
          <p:nvPr/>
        </p:nvSpPr>
        <p:spPr>
          <a:xfrm xmlns:a="http://schemas.openxmlformats.org/drawingml/2006/main">
            <a:off x="647700" y="52863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B5C9C5"/>
                </a:solidFill>
                <a:latin typeface="Arial"/>
                <a:ea typeface="Arial"/>
                <a:cs typeface="Arial"/>
              </a:defRPr>
            </a:defPPr>
          </a:lstStyle>
          <a:p xmlns:a="http://schemas.openxmlformats.org/drawingml/2006/main">
            <a:pPr>
              <a:defRPr sz="1950" b="0">
                <a:solidFill>
                  <a:srgbClr val="B5C9C5"/>
                </a:solidFill>
                <a:latin typeface="Arial"/>
                <a:ea typeface="Arial"/>
                <a:cs typeface="Arial"/>
              </a:defRPr>
            </a:pPr>
            <a:r>
              <a:rPr sz="1950" b="0">
                <a:solidFill>
                  <a:srgbClr val="B5C9C5"/>
                </a:solidFill>
                <a:latin typeface="Arial"/>
                <a:ea typeface="Arial"/>
                <a:cs typeface="Arial"/>
              </a:rPr>
              <a:t>Proposed pilot measuring relevance and research time</a:t>
            </a:r>
          </a:p>
        </p:txBody>
      </p:sp>
    </p:spTree>
    <p:extLst>
      <p:ext uri="{BB962C8B-B14F-4D97-AF65-F5344CB8AC3E}">
        <p14:creationId xmlns:p14="http://schemas.microsoft.com/office/powerpoint/2010/main" val="620464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2026-10-15T22:40:22.9470000Z</dcterms:created>
  <dcterms:modified xsi:type="dcterms:W3CDTF">2026-10-15T22:40:22.9470000Z</dcterms:modified>
</coreProperties>
</file>