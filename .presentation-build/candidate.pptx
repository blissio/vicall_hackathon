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3ae15832384689" /><Relationship Type="http://schemas.openxmlformats.org/officeDocument/2006/relationships/extended-properties" Target="/docProps/app.xml" Id="Rfeb0ae3af37a4687" /><Relationship Type="http://schemas.openxmlformats.org/officeDocument/2006/relationships/officeDocument" Target="/ppt/presentation.xml" Id="Rb33fdcb551884435" /></Relationships>
</file>

<file path=ppt/presentation.xml><?xml version="1.0" encoding="utf-8"?>
<p:presentation xmlns:p="http://schemas.openxmlformats.org/presentationml/2006/main">
  <p:sldMasterIdLst>
    <p:sldMasterId xmlns:r="http://schemas.openxmlformats.org/officeDocument/2006/relationships" id="2147483648" r:id="R69d660a5f26345fa"/>
  </p:sldMasterIdLst>
  <p:notesMasterIdLst>
    <p:notesMasterId xmlns:r="http://schemas.openxmlformats.org/officeDocument/2006/relationships" r:id="Re31abe0c4bdd4b00"/>
  </p:notesMasterIdLst>
  <p:sldIdLst>
    <p:sldId xmlns:r="http://schemas.openxmlformats.org/officeDocument/2006/relationships" id="256" r:id="Rd3b711ddf8b5458b"/>
    <p:sldId xmlns:r="http://schemas.openxmlformats.org/officeDocument/2006/relationships" id="257" r:id="Rdc60745796bf4ebc"/>
    <p:sldId xmlns:r="http://schemas.openxmlformats.org/officeDocument/2006/relationships" id="258" r:id="R3893468f95ab4593"/>
    <p:sldId xmlns:r="http://schemas.openxmlformats.org/officeDocument/2006/relationships" id="259" r:id="R01136826e1f04bb0"/>
    <p:sldId xmlns:r="http://schemas.openxmlformats.org/officeDocument/2006/relationships" id="260" r:id="R8eaf6c2fe60f43e1"/>
    <p:sldId xmlns:r="http://schemas.openxmlformats.org/officeDocument/2006/relationships" id="261" r:id="Rd09e6a160d6a4476"/>
    <p:sldId xmlns:r="http://schemas.openxmlformats.org/officeDocument/2006/relationships" id="262" r:id="R0b1dd2514b824d5a"/>
    <p:sldId xmlns:r="http://schemas.openxmlformats.org/officeDocument/2006/relationships" id="263" r:id="R1fe1d32a8f9f4d7d"/>
    <p:sldId xmlns:r="http://schemas.openxmlformats.org/officeDocument/2006/relationships" id="264" r:id="Rde83571d27c640b3"/>
    <p:sldId xmlns:r="http://schemas.openxmlformats.org/officeDocument/2006/relationships" id="265" r:id="R9df6b3ecae2e4c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9d09751f044248" /><Relationship Type="http://schemas.openxmlformats.org/officeDocument/2006/relationships/slideMaster" Target="/ppt/slideMasters/slideMaster1.xml" Id="R69d660a5f26345fa" /><Relationship Type="http://schemas.openxmlformats.org/officeDocument/2006/relationships/notesMaster" Target="/ppt/notesMasters/notesMaster1.xml" Id="Re31abe0c4bdd4b00" /><Relationship Type="http://schemas.openxmlformats.org/officeDocument/2006/relationships/presProps" Target="/ppt/presProps.xml" Id="Rd978cad96224405e" /><Relationship Type="http://schemas.openxmlformats.org/officeDocument/2006/relationships/tableStyles" Target="/ppt/tableStyles.xml" Id="R9b703b4ef33f4694" /><Relationship Type="http://schemas.openxmlformats.org/officeDocument/2006/relationships/slide" Target="/ppt/slides/slide1.xml" Id="Rd3b711ddf8b5458b" /><Relationship Type="http://schemas.openxmlformats.org/officeDocument/2006/relationships/slide" Target="/ppt/slides/slide2.xml" Id="Rdc60745796bf4ebc" /><Relationship Type="http://schemas.openxmlformats.org/officeDocument/2006/relationships/slide" Target="/ppt/slides/slide3.xml" Id="R3893468f95ab4593" /><Relationship Type="http://schemas.openxmlformats.org/officeDocument/2006/relationships/slide" Target="/ppt/slides/slide4.xml" Id="R01136826e1f04bb0" /><Relationship Type="http://schemas.openxmlformats.org/officeDocument/2006/relationships/slide" Target="/ppt/slides/slide5.xml" Id="R8eaf6c2fe60f43e1" /><Relationship Type="http://schemas.openxmlformats.org/officeDocument/2006/relationships/slide" Target="/ppt/slides/slide6.xml" Id="Rd09e6a160d6a4476" /><Relationship Type="http://schemas.openxmlformats.org/officeDocument/2006/relationships/slide" Target="/ppt/slides/slide7.xml" Id="R0b1dd2514b824d5a" /><Relationship Type="http://schemas.openxmlformats.org/officeDocument/2006/relationships/slide" Target="/ppt/slides/slide8.xml" Id="R1fe1d32a8f9f4d7d" /><Relationship Type="http://schemas.openxmlformats.org/officeDocument/2006/relationships/slide" Target="/ppt/slides/slide9.xml" Id="Rde83571d27c640b3" /><Relationship Type="http://schemas.openxmlformats.org/officeDocument/2006/relationships/slide" Target="/ppt/slides/slide10.xml" Id="R9df6b3ecae2e4c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4142e5299c41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9d547b74064a30" /><Relationship Type="http://schemas.openxmlformats.org/officeDocument/2006/relationships/notesMaster" Target="/ppt/notesMasters/notesMaster1.xml" Id="Re6e2c6f51f694a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f1677747e14f06" /><Relationship Type="http://schemas.openxmlformats.org/officeDocument/2006/relationships/notesMaster" Target="/ppt/notesMasters/notesMaster1.xml" Id="R69ba892b84e542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2c4f2cc8cb484e" /><Relationship Type="http://schemas.openxmlformats.org/officeDocument/2006/relationships/notesMaster" Target="/ppt/notesMasters/notesMaster1.xml" Id="R54d3099d6f5f49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d54a81059d48fc" /><Relationship Type="http://schemas.openxmlformats.org/officeDocument/2006/relationships/notesMaster" Target="/ppt/notesMasters/notesMaster1.xml" Id="R05440de5dbce43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eb0ab3644f48bf" /><Relationship Type="http://schemas.openxmlformats.org/officeDocument/2006/relationships/notesMaster" Target="/ppt/notesMasters/notesMaster1.xml" Id="R1aa440afed4b40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22e848808b49c7" /><Relationship Type="http://schemas.openxmlformats.org/officeDocument/2006/relationships/notesMaster" Target="/ppt/notesMasters/notesMaster1.xml" Id="Rc38b69b1a3584a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46ce757ee84d71" /><Relationship Type="http://schemas.openxmlformats.org/officeDocument/2006/relationships/notesMaster" Target="/ppt/notesMasters/notesMaster1.xml" Id="R055a19fdf8cc47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e26ba6e0c74429" /><Relationship Type="http://schemas.openxmlformats.org/officeDocument/2006/relationships/notesMaster" Target="/ppt/notesMasters/notesMaster1.xml" Id="Rda07e6b173cd40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f422a8506c4240" /><Relationship Type="http://schemas.openxmlformats.org/officeDocument/2006/relationships/notesMaster" Target="/ppt/notesMasters/notesMaster1.xml" Id="R451cad61d86745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af5cdd236c40cb" /><Relationship Type="http://schemas.openxmlformats.org/officeDocument/2006/relationships/notesMaster" Target="/ppt/notesMasters/notesMaster1.xml" Id="R0c8392369ebf41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
            </a:r>
          </a:p>
          <a:p xmlns:a="http://schemas.openxmlformats.org/drawingml/2006/main">
            <a:r>
              <a:t>Pause after the opening question. Let the room answer it silently.</a:t>
            </a:r>
          </a:p>
          <a:p xmlns:a="http://schemas.openxmlformats.org/drawingml/2006/main">
            <a:r>
              <a:t/>
            </a:r>
          </a:p>
          <a:p xmlns:a="http://schemas.openxmlformats.org/drawingml/2006/main">
            <a:r>
              <a:t>Imagine Reece opens his laptop tomorrow morning. Vicall helps businesses improve their websites. But before he can help anyone, he has to answer a simpler question: who should I call next? We built Pittsburgh IQ to make that decision better informed, and to make sure yesterday’s research is still useful tomorrow.</a:t>
            </a:r>
          </a:p>
          <a:p xmlns:a="http://schemas.openxmlformats.org/drawingml/2006/main">
            <a:r>
              <a:t/>
            </a:r>
          </a:p>
          <a:p xmlns:a="http://schemas.openxmlformats.org/drawingml/2006/main">
            <a:r>
              <a:t>Sources and claim boundaries:</a:t>
            </a:r>
          </a:p>
          <a:p xmlns:a="http://schemas.openxmlformats.org/drawingml/2006/main">
            <a:r>
              <a:t>User-provided Hackathon Plan_Info Sheet.txt: Vicall mission and Challenge 3. Opening is an illustrative scenario, not a reported client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
            </a:r>
          </a:p>
          <a:p xmlns:a="http://schemas.openxmlformats.org/drawingml/2006/main">
            <a:r>
              <a:t>Point to the client’s words, then look back at the judges.</a:t>
            </a:r>
          </a:p>
          <a:p xmlns:a="http://schemas.openxmlformats.org/drawingml/2006/main">
            <a:r>
              <a:t/>
            </a:r>
          </a:p>
          <a:p xmlns:a="http://schemas.openxmlformats.org/drawingml/2006/main">
            <a:r>
              <a:t>We started with website research for Vicall. Then Reece widened the idea. He wanted a smart Pittsburgh directory to help people buy services and build relationships to sell. He named professional offices and school districts as important customers. That feedback changed our direction: a shared research workflow around local organizations, with Vicall as the first use case.</a:t>
            </a:r>
          </a:p>
          <a:p xmlns:a="http://schemas.openxmlformats.org/drawingml/2006/main">
            <a:r>
              <a:t/>
            </a:r>
          </a:p>
          <a:p xmlns:a="http://schemas.openxmlformats.org/drawingml/2006/main">
            <a:r>
              <a:t>Sources and claim boundaries:</a:t>
            </a:r>
          </a:p>
          <a:p xmlns:a="http://schemas.openxmlformats.org/drawingml/2006/main">
            <a:r>
              <a:t>User-provided email from Reece Way: 'I think like a smart Pittsburgh business directory would be cool for everyone.' Client also identified white-collar offices and school districts.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
            </a:r>
          </a:p>
          <a:p xmlns:a="http://schemas.openxmlformats.org/drawingml/2006/main">
            <a:r>
              <a:t>Point to the candidate count, then the website count.</a:t>
            </a:r>
          </a:p>
          <a:p xmlns:a="http://schemas.openxmlformats.org/drawingml/2006/main">
            <a:r>
              <a:t/>
            </a:r>
          </a:p>
          <a:p xmlns:a="http://schemas.openxmlformats.org/drawingml/2006/main">
            <a:r>
              <a:t>Here is the working directory. Our saved Pittsburgh snapshot contains 2,603 business candidates, including 1,059 with listed websites. You can narrow the directory by neighborhood, category, or available contact information. These are starting points for research. A listing does not prove that an organization is operating, and a missing website field does not prove that it has no website.</a:t>
            </a:r>
          </a:p>
          <a:p xmlns:a="http://schemas.openxmlformats.org/drawingml/2006/main">
            <a:r>
              <a:t/>
            </a:r>
          </a:p>
          <a:p xmlns:a="http://schemas.openxmlformats.org/drawingml/2006/main">
            <a:r>
              <a:t>Sources and claim boundaries:</a:t>
            </a:r>
          </a:p>
          <a:p xmlns:a="http://schemas.openxmlformats.org/drawingml/2006/main">
            <a:r>
              <a:t>docs/presentation-screenshots/01-business-directory.jpg and 06-data-coverage.jpg. OSM snapshot collected October 14, 2026. Counts are candidate/listing coverage, not verified businesses.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
            </a:r>
          </a:p>
          <a:p xmlns:a="http://schemas.openxmlformats.org/drawingml/2006/main">
            <a:r>
              <a:t>Show the query and selected purpose. This is a captured product walkthrough.</a:t>
            </a:r>
          </a:p>
          <a:p xmlns:a="http://schemas.openxmlformats.org/drawingml/2006/main">
            <a:r>
              <a:t/>
            </a:r>
          </a:p>
          <a:p xmlns:a="http://schemas.openxmlformats.org/drawingml/2006/main">
            <a:r>
              <a:t>Now imagine someone needs a legal provider. We choose that purpose, select the legal sector, and ask a straightforward question. This search returned 22 candidates from retained evidence, without fetching another external page. The same interface supports prospect research and potential partners. For Vicall, the next step would be to focus on relevant offices, then investigate which ones have a website issue worth discussing. The requirements are visible and adjustable.</a:t>
            </a:r>
          </a:p>
          <a:p xmlns:a="http://schemas.openxmlformats.org/drawingml/2006/main">
            <a:r>
              <a:t/>
            </a:r>
          </a:p>
          <a:p xmlns:a="http://schemas.openxmlformats.org/drawingml/2006/main">
            <a:r>
              <a:t>Sources and claim boundaries:</a:t>
            </a:r>
          </a:p>
          <a:p xmlns:a="http://schemas.openxmlformats.org/drawingml/2006/main">
            <a:r>
              <a:t>docs/presentation-screenshots/03-research-assistant.jpg and 04-sourced-research-result.jpg. The captured legal-provider query returned 22 matches and zero external page requests.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a:t>
            </a:r>
          </a:p>
          <a:p xmlns:a="http://schemas.openxmlformats.org/drawingml/2006/main">
            <a:r>
              <a:t/>
            </a:r>
          </a:p>
          <a:p xmlns:a="http://schemas.openxmlformats.org/drawingml/2006/main">
            <a:r>
              <a:t>Point to the source links and dates, then the unknowns.</a:t>
            </a:r>
          </a:p>
          <a:p xmlns:a="http://schemas.openxmlformats.org/drawingml/2006/main">
            <a:r>
              <a:t/>
            </a:r>
          </a:p>
          <a:p xmlns:a="http://schemas.openxmlformats.org/drawingml/2006/main">
            <a:r>
              <a:t>A useful result needs more than a company name. Here, Beroes Law Center comes with public references supporting the match. Each observation keeps its source and date. The app also says what it does not know, including decision-maker roles and confirmed services. Researchers can add a public person and role with evidence, but a job title does not prove purchasing authority. The next human review becomes specific and traceable.</a:t>
            </a:r>
          </a:p>
          <a:p xmlns:a="http://schemas.openxmlformats.org/drawingml/2006/main">
            <a:r>
              <a:t/>
            </a:r>
          </a:p>
          <a:p xmlns:a="http://schemas.openxmlformats.org/drawingml/2006/main">
            <a:r>
              <a:t>Sources and claim boundaries:</a:t>
            </a:r>
          </a:p>
          <a:p xmlns:a="http://schemas.openxmlformats.org/drawingml/2006/main">
            <a:r>
              <a:t>docs/presentation-screenshots/04-sourced-research-result.jpg and 05-business-profile.jpg. Reviewed role workflow in intelligence.py and ui/intelligence-ui.js. No reviewed decision-maker is asserted for this business.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
            </a:r>
          </a:p>
          <a:p xmlns:a="http://schemas.openxmlformats.org/drawingml/2006/main">
            <a:r>
              <a:t>Point to the saved URL and checklist. Avoid describing the score as a search ranking.</a:t>
            </a:r>
          </a:p>
          <a:p xmlns:a="http://schemas.openxmlformats.org/drawingml/2006/main">
            <a:r>
              <a:t/>
            </a:r>
          </a:p>
          <a:p xmlns:a="http://schemas.openxmlformats.org/drawingml/2006/main">
            <a:r>
              <a:t>For Vicall, website analysis makes the research more actionable. This saved check records the exact URL, response, observation time, and technical findings. It can flag details such as a missing main heading for a person to investigate. A blocked request stays inconclusive. The score is a static checklist, not a Google ranking. That distinction matters: the goal is a better informed conversation with a business, supported by evidence we can actually show.</a:t>
            </a:r>
          </a:p>
          <a:p xmlns:a="http://schemas.openxmlformats.org/drawingml/2006/main">
            <a:r>
              <a:t/>
            </a:r>
          </a:p>
          <a:p xmlns:a="http://schemas.openxmlformats.org/drawingml/2006/main">
            <a:r>
              <a:t>Sources and claim boundaries:</a:t>
            </a:r>
          </a:p>
          <a:p xmlns:a="http://schemas.openxmlformats.org/drawingml/2006/main">
            <a:r>
              <a:t>docs/presentation-screenshots/08-website-audit-detail.jpg. Actual Size sampled October 15, 2026: HTTP 200, static score 80, heading and canonical recommendations. Observations require rendered and identity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
            </a:r>
          </a:p>
          <a:p xmlns:a="http://schemas.openxmlformats.org/drawingml/2006/main">
            <a:r>
              <a:t>Slow down on 'the work stays'. This is the value transition.</a:t>
            </a:r>
          </a:p>
          <a:p xmlns:a="http://schemas.openxmlformats.org/drawingml/2006/main">
            <a:r>
              <a:t/>
            </a:r>
          </a:p>
          <a:p xmlns:a="http://schemas.openxmlformats.org/drawingml/2006/main">
            <a:r>
              <a:t>When that investigation ends, the work stays. Profiles retain notes and source records. Shortlists and research stages organize the next steps. Exports let someone take the findings into another workflow. Underneath, SQLite persistence, backups, and resumable jobs support continued use. We also implemented a role-based team adapter and a documented API. Those are foundations for reuse and maintenance. Public deployment and larger-scale operation still need validation.</a:t>
            </a:r>
          </a:p>
          <a:p xmlns:a="http://schemas.openxmlformats.org/drawingml/2006/main">
            <a:r>
              <a:t/>
            </a:r>
          </a:p>
          <a:p xmlns:a="http://schemas.openxmlformats.org/drawingml/2006/main">
            <a:r>
              <a:t>Sources and claim boundaries:</a:t>
            </a:r>
          </a:p>
          <a:p xmlns:a="http://schemas.openxmlformats.org/drawingml/2006/main">
            <a:r>
              <a:t>README.md; storage.py; serve.py; docs/openapi.json; docs/implementation-status.md. Single shared workspace, not multitenant. No public deployment or demonstrated large-scale operation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a:t>
            </a:r>
          </a:p>
          <a:p xmlns:a="http://schemas.openxmlformats.org/drawingml/2006/main">
            <a:r>
              <a:t/>
            </a:r>
          </a:p>
          <a:p xmlns:a="http://schemas.openxmlformats.org/drawingml/2006/main">
            <a:r>
              <a:t>Explain the sequence in plain language. Keep the local experiment limitation audible.</a:t>
            </a:r>
          </a:p>
          <a:p xmlns:a="http://schemas.openxmlformats.org/drawingml/2006/main">
            <a:r>
              <a:t/>
            </a:r>
          </a:p>
          <a:p xmlns:a="http://schemas.openxmlformats.org/drawingml/2006/main">
            <a:r>
              <a:t>AI fits into that memory. First, retrieve relevant saved evidence. Then give the model a bounded context and check its returned references. Cloud mode supports question planning and answers. We also tested a small local model on this eight-gigabyte laptop. One fictional-evidence test took about twelve seconds, then unloaded. It also misread evidence. So we label it experimental, show sources, and keep human review central. Reference validation catches unsupported citations; it cannot guarantee that an interpretation is true.</a:t>
            </a:r>
          </a:p>
          <a:p xmlns:a="http://schemas.openxmlformats.org/drawingml/2006/main">
            <a:r>
              <a:t/>
            </a:r>
          </a:p>
          <a:p xmlns:a="http://schemas.openxmlformats.org/drawingml/2006/main">
            <a:r>
              <a:t>Sources and claim boundaries:</a:t>
            </a:r>
          </a:p>
          <a:p xmlns:a="http://schemas.openxmlformats.org/drawingml/2006/main">
            <a:r>
              <a:t>intelligence.py generate_answer, plan_query, validate_answer; local_ai.py. Session local smoke test: Qwen2.5-0.5B-Instruct Q4_K_M, 11,656 ms including load, 133 input and 77 output tokens. Test contained a misinterpretation. Current screenshot launch has local AI disabled. Official model: https://huggingface.co/Qwen/Qwen2.5-0.5B-Instruct-GGUF . Runtime: https://github.com/ggml-org/llama.cpp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a:t>
            </a:r>
          </a:p>
          <a:p xmlns:a="http://schemas.openxmlformats.org/drawingml/2006/main">
            <a:r>
              <a:t/>
            </a:r>
          </a:p>
          <a:p xmlns:a="http://schemas.openxmlformats.org/drawingml/2006/main">
            <a:r>
              <a:t>Emphasize 'synthetic' and 'characters'. Do not imply measured token savings.</a:t>
            </a:r>
          </a:p>
          <a:p xmlns:a="http://schemas.openxmlformats.org/drawingml/2006/main">
            <a:r>
              <a:t/>
            </a:r>
          </a:p>
          <a:p xmlns:a="http://schemas.openxmlformats.org/drawingml/2006/main">
            <a:r>
              <a:t>We tested the retrieval itself. Across four synthetic scenarios, it returned the exact expected result sets in all four. In the office-prospect case, it selected 2,549 context characters instead of 14,897, about 83 percent fewer. That demonstrates focused retrieval, not measured token savings or revenue impact. The next benchmark needs Reece’s judgment: are the organizations relevant, and is the evidence useful enough for a real next step?</a:t>
            </a:r>
          </a:p>
          <a:p xmlns:a="http://schemas.openxmlformats.org/drawingml/2006/main">
            <a:r>
              <a:t/>
            </a:r>
          </a:p>
          <a:p xmlns:a="http://schemas.openxmlformats.org/drawingml/2006/main">
            <a:r>
              <a:t>Sources and claim boundaries:</a:t>
            </a:r>
          </a:p>
          <a:p xmlns:a="http://schemas.openxmlformats.org/drawingml/2006/main">
            <a:r>
              <a:t>docs/evaluation.json: four fictional fixtures, exact_set_matches 4/4. Office-prospect scenario retrieved_context_characters 2549, full_context_characters 14897. (1-2549/14897)*100 = 82.889%. No live model or external fetch in this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
            </a:r>
          </a:p>
          <a:p xmlns:a="http://schemas.openxmlformats.org/drawingml/2006/main">
            <a:r>
              <a:t>Return to Reece. End cleanly, then stop speaking.</a:t>
            </a:r>
          </a:p>
          <a:p xmlns:a="http://schemas.openxmlformats.org/drawingml/2006/main">
            <a:r>
              <a:t/>
            </a:r>
          </a:p>
          <a:p xmlns:a="http://schemas.openxmlformats.org/drawingml/2006/main">
            <a:r>
              <a:t>So return to Reece’s laptop. He has a place to find organizations, inspect what supports a match, and retain the research for the next conversation. Our next step is a small pilot with him, reviewing twenty offices and districts and measuring relevance and research time. Pittsburgh IQ gives that pilot a working foundation. The value we want to prove is simple: less repeated searching, and more useful local business relationships.</a:t>
            </a:r>
          </a:p>
          <a:p xmlns:a="http://schemas.openxmlformats.org/drawingml/2006/main">
            <a:r>
              <a:t/>
            </a:r>
          </a:p>
          <a:p xmlns:a="http://schemas.openxmlformats.org/drawingml/2006/main">
            <a:r>
              <a:t>Sources and claim boundaries:</a:t>
            </a:r>
          </a:p>
          <a:p xmlns:a="http://schemas.openxmlformats.org/drawingml/2006/main">
            <a:r>
              <a:t>Proposed next-step pilot, not an existing client commitment or measured outcome. Client email supports offices, districts, buying and selling relationships. No customer acquisition or time-saving outcome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7e1ef57bda44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c5e0c3168a4c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6d11c11b4d49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910d8631054d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56e264cac749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d64e56d89a45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A81DCB-500F-4E8C-9C4E-A08110F5821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0DEC72F-CCA7-40EE-BAF6-105CF7694E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C36C42E-6AB4-46E8-96B5-67D05FE124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13DF2B-14D6-452F-B4EA-7CCC5C7C0E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46BD32-BB60-4DAC-A2C0-FCC6F9C1CB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012C539-1CA0-4535-83A7-F5D8872D95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9D1291-3C81-4408-BF81-FB99BE8432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22B7510-67E8-4BA9-A86A-97593BAC172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B2AA46-700D-4DF9-A75E-AD1B08E848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5B07A0-0EA3-477E-81EF-4D106A5C01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718bf855554f1b" /><Relationship Type="http://schemas.openxmlformats.org/officeDocument/2006/relationships/slideLayout" Target="/ppt/slideLayouts/slideLayout1.xml" Id="Rcb72be44a386447f" /><Relationship Type="http://schemas.openxmlformats.org/officeDocument/2006/relationships/slideLayout" Target="/ppt/slideLayouts/slideLayout2.xml" Id="R208f5c9dda814e1a" /><Relationship Type="http://schemas.openxmlformats.org/officeDocument/2006/relationships/slideLayout" Target="/ppt/slideLayouts/slideLayout3.xml" Id="Rfa2992e6453e4c4f" /><Relationship Type="http://schemas.openxmlformats.org/officeDocument/2006/relationships/slideLayout" Target="/ppt/slideLayouts/slideLayout4.xml" Id="Rd61f25874fea445c" /><Relationship Type="http://schemas.openxmlformats.org/officeDocument/2006/relationships/slideLayout" Target="/ppt/slideLayouts/slideLayout5.xml" Id="R81dd336794a1446b" /><Relationship Type="http://schemas.openxmlformats.org/officeDocument/2006/relationships/slideLayout" Target="/ppt/slideLayouts/slideLayout6.xml" Id="Rfc417ba5239344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72be44a386447f"/>
    <p:sldLayoutId xmlns:r="http://schemas.openxmlformats.org/officeDocument/2006/relationships" id="2147483650" r:id="R208f5c9dda814e1a"/>
    <p:sldLayoutId xmlns:r="http://schemas.openxmlformats.org/officeDocument/2006/relationships" id="2147483651" r:id="Rfa2992e6453e4c4f"/>
    <p:sldLayoutId xmlns:r="http://schemas.openxmlformats.org/officeDocument/2006/relationships" id="2147483652" r:id="Rd61f25874fea445c"/>
    <p:sldLayoutId xmlns:r="http://schemas.openxmlformats.org/officeDocument/2006/relationships" id="2147483653" r:id="R81dd336794a1446b"/>
    <p:sldLayoutId xmlns:r="http://schemas.openxmlformats.org/officeDocument/2006/relationships" id="2147483654" r:id="Rfc417ba5239344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3673bc711e4ed0" /><Relationship Type="http://schemas.openxmlformats.org/officeDocument/2006/relationships/notesSlide" Target="/ppt/notesSlides/notesSlide1.xml" Id="R838fc8b1c1824d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c84445b3cd4637" /><Relationship Type="http://schemas.openxmlformats.org/officeDocument/2006/relationships/notesSlide" Target="/ppt/notesSlides/notesSlide2.xml" Id="Rcfe8ffac34e549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2665b3f821c413f" /><Relationship Type="http://schemas.openxmlformats.org/officeDocument/2006/relationships/image" Target="/ppt/media/image.jpeg" Id="R228965d6a7364dce" /><Relationship Type="http://schemas.openxmlformats.org/officeDocument/2006/relationships/notesSlide" Target="/ppt/notesSlides/notesSlide3.xml" Id="Rbc84bed1e26a45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2eaffeb00748d6" /><Relationship Type="http://schemas.openxmlformats.org/officeDocument/2006/relationships/image" Target="/ppt/media/image2.jpeg" Id="R32028613d1264f10" /><Relationship Type="http://schemas.openxmlformats.org/officeDocument/2006/relationships/notesSlide" Target="/ppt/notesSlides/notesSlide4.xml" Id="Rec817b412d6b48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13c13d56fbc4345" /><Relationship Type="http://schemas.openxmlformats.org/officeDocument/2006/relationships/image" Target="/ppt/media/image3.jpeg" Id="Red547cd7fcde461f" /><Relationship Type="http://schemas.openxmlformats.org/officeDocument/2006/relationships/notesSlide" Target="/ppt/notesSlides/notesSlide5.xml" Id="R8b365e2f6e2c48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f6a61344f2c4dbe" /><Relationship Type="http://schemas.openxmlformats.org/officeDocument/2006/relationships/image" Target="/ppt/media/image4.jpeg" Id="Rd5cbc23003e044a3" /><Relationship Type="http://schemas.openxmlformats.org/officeDocument/2006/relationships/notesSlide" Target="/ppt/notesSlides/notesSlide6.xml" Id="Rfcccede8e2a944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1ad7a9dc004771" /><Relationship Type="http://schemas.openxmlformats.org/officeDocument/2006/relationships/notesSlide" Target="/ppt/notesSlides/notesSlide7.xml" Id="R4fed1bd69fa64f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8fe03552bf74103" /><Relationship Type="http://schemas.openxmlformats.org/officeDocument/2006/relationships/notesSlide" Target="/ppt/notesSlides/notesSlide8.xml" Id="Rc7244e28c16b4b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8067d82f4c4384" /><Relationship Type="http://schemas.openxmlformats.org/officeDocument/2006/relationships/notesSlide" Target="/ppt/notesSlides/notesSlide9.xml" Id="Rece8d637efe14a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089833bcf7f4ed5" /><Relationship Type="http://schemas.openxmlformats.org/officeDocument/2006/relationships/notesSlide" Target="/ppt/notesSlides/notesSlide10.xml" Id="Rb7c1ae9618784ea1" /></Relationships>
</file>

<file path=ppt/slides/slide1.xml><?xml version="1.0" encoding="utf-8"?>
<p:sld xmlns:p="http://schemas.openxmlformats.org/presentationml/2006/main">
  <p:cSld>
    <p:bg>
      <p:bgPr>
        <a:solidFill xmlns:a="http://schemas.openxmlformats.org/drawingml/2006/main">
          <a:srgbClr val="142F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B6E4DE-2399-4140-8EAF-B53159FD2092}"/>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70D1BB"/>
                </a:solidFill>
                <a:latin typeface="Arial"/>
                <a:ea typeface="Arial"/>
                <a:cs typeface="Arial"/>
              </a:defRPr>
            </a:defPPr>
          </a:lstStyle>
          <a:p xmlns:a="http://schemas.openxmlformats.org/drawingml/2006/main">
            <a:pPr>
              <a:defRPr sz="1350" b="1">
                <a:solidFill>
                  <a:srgbClr val="70D1BB"/>
                </a:solidFill>
                <a:latin typeface="Arial"/>
                <a:ea typeface="Arial"/>
                <a:cs typeface="Arial"/>
              </a:defRPr>
            </a:pPr>
            <a:r>
              <a:rPr sz="1350" b="1">
                <a:solidFill>
                  <a:srgbClr val="70D1BB"/>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84503E63-8933-41D3-B707-B7BEA58ECC41}"/>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D1BB"/>
                </a:solidFill>
                <a:latin typeface="Arial"/>
                <a:ea typeface="Arial"/>
                <a:cs typeface="Arial"/>
              </a:defRPr>
            </a:defPPr>
          </a:lstStyle>
          <a:p xmlns:a="http://schemas.openxmlformats.org/drawingml/2006/main">
            <a:pPr>
              <a:defRPr sz="1350" b="0">
                <a:solidFill>
                  <a:srgbClr val="70D1BB"/>
                </a:solidFill>
                <a:latin typeface="Arial"/>
                <a:ea typeface="Arial"/>
                <a:cs typeface="Arial"/>
              </a:defRPr>
            </a:pPr>
            <a:r>
              <a:rPr sz="1350" b="0">
                <a:solidFill>
                  <a:srgbClr val="70D1B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34A87F7-CEF4-44F1-8613-D5BE99E05007}"/>
              </a:ext>
            </a:extLst>
          </p:cNvPr>
          <p:cNvSpPr>
            <a:spLocks xmlns:a="http://schemas.openxmlformats.org/drawingml/2006/main" noGrp="1"/>
          </p:cNvSpPr>
          <p:nvPr/>
        </p:nvSpPr>
        <p:spPr>
          <a:xfrm xmlns:a="http://schemas.openxmlformats.org/drawingml/2006/main">
            <a:off x="609600" y="1524000"/>
            <a:ext cx="10668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450" b="1">
                <a:solidFill>
                  <a:srgbClr val="FFFFFF"/>
                </a:solidFill>
                <a:latin typeface="Arial"/>
                <a:ea typeface="Arial"/>
                <a:cs typeface="Arial"/>
              </a:defRPr>
            </a:defPPr>
          </a:lstStyle>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Who should Reece</a:t>
            </a:r>
          </a:p>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call next?</a:t>
            </a:r>
          </a:p>
        </p:txBody>
      </p:sp>
      <p:sp>
        <p:nvSpPr>
          <p:cNvPr id="4" name="">
            <a:extLst xmlns:a="http://schemas.openxmlformats.org/drawingml/2006/main">
              <a:ext uri="{FF2B5EF4-FFF2-40B4-BE49-F238E27FC236}">
                <a16:creationId xmlns:a16="http://schemas.microsoft.com/office/drawing/2014/main" id="{0EC7C0B4-F9CD-4C18-8F84-B35AE54AFA19}"/>
              </a:ext>
            </a:extLst>
          </p:cNvPr>
          <p:cNvSpPr>
            <a:spLocks xmlns:a="http://schemas.openxmlformats.org/drawingml/2006/main" noGrp="1"/>
          </p:cNvSpPr>
          <p:nvPr/>
        </p:nvSpPr>
        <p:spPr>
          <a:xfrm xmlns:a="http://schemas.openxmlformats.org/drawingml/2006/main">
            <a:off x="647700" y="4438650"/>
            <a:ext cx="1000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70D1BB"/>
                </a:solidFill>
                <a:latin typeface="Arial"/>
                <a:ea typeface="Arial"/>
                <a:cs typeface="Arial"/>
              </a:defRPr>
            </a:defPPr>
          </a:lstStyle>
          <a:p xmlns:a="http://schemas.openxmlformats.org/drawingml/2006/main">
            <a:pPr>
              <a:defRPr sz="2550" b="0">
                <a:solidFill>
                  <a:srgbClr val="70D1BB"/>
                </a:solidFill>
                <a:latin typeface="Arial"/>
                <a:ea typeface="Arial"/>
                <a:cs typeface="Arial"/>
              </a:defRPr>
            </a:pPr>
            <a:r>
              <a:rPr sz="2550" b="0">
                <a:solidFill>
                  <a:srgbClr val="70D1BB"/>
                </a:solidFill>
                <a:latin typeface="Arial"/>
                <a:ea typeface="Arial"/>
                <a:cs typeface="Arial"/>
              </a:rPr>
              <a:t>Local business research that remembers</a:t>
            </a:r>
          </a:p>
        </p:txBody>
      </p:sp>
      <p:sp>
        <p:nvSpPr>
          <p:cNvPr id="5" name="">
            <a:extLst xmlns:a="http://schemas.openxmlformats.org/drawingml/2006/main">
              <a:ext uri="{FF2B5EF4-FFF2-40B4-BE49-F238E27FC236}">
                <a16:creationId xmlns:a16="http://schemas.microsoft.com/office/drawing/2014/main" id="{5DFD33CB-E3BF-491C-B083-A77A3CC49EF7}"/>
              </a:ext>
            </a:extLst>
          </p:cNvPr>
          <p:cNvSpPr>
            <a:spLocks xmlns:a="http://schemas.openxmlformats.org/drawingml/2006/main" noGrp="1"/>
          </p:cNvSpPr>
          <p:nvPr/>
        </p:nvSpPr>
        <p:spPr>
          <a:xfrm xmlns:a="http://schemas.openxmlformats.org/drawingml/2006/main">
            <a:off x="647700" y="575310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5C9C5"/>
                </a:solidFill>
                <a:latin typeface="Arial"/>
                <a:ea typeface="Arial"/>
                <a:cs typeface="Arial"/>
              </a:defRPr>
            </a:defPPr>
          </a:lstStyle>
          <a:p xmlns:a="http://schemas.openxmlformats.org/drawingml/2006/main">
            <a:pPr>
              <a:defRPr sz="1650" b="0">
                <a:solidFill>
                  <a:srgbClr val="B5C9C5"/>
                </a:solidFill>
                <a:latin typeface="Arial"/>
                <a:ea typeface="Arial"/>
                <a:cs typeface="Arial"/>
              </a:defRPr>
            </a:pPr>
            <a:r>
              <a:rPr sz="1650" b="0">
                <a:solidFill>
                  <a:srgbClr val="B5C9C5"/>
                </a:solidFill>
                <a:latin typeface="Arial"/>
                <a:ea typeface="Arial"/>
                <a:cs typeface="Arial"/>
              </a:rPr>
              <a:t>Vicall hackathon challenge</a:t>
            </a:r>
          </a:p>
        </p:txBody>
      </p:sp>
    </p:spTree>
    <p:extLst>
      <p:ext uri="{BB962C8B-B14F-4D97-AF65-F5344CB8AC3E}">
        <p14:creationId xmlns:p14="http://schemas.microsoft.com/office/powerpoint/2010/main" val="1531801828"/>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BECB7C-DC15-474A-8B99-93E6FD8A7A10}"/>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4706E"/>
                </a:solidFill>
                <a:latin typeface="Arial"/>
                <a:ea typeface="Arial"/>
                <a:cs typeface="Arial"/>
              </a:defRPr>
            </a:defPPr>
          </a:lstStyle>
          <a:p xmlns:a="http://schemas.openxmlformats.org/drawingml/2006/main">
            <a:pPr>
              <a:defRPr sz="1350" b="1">
                <a:solidFill>
                  <a:srgbClr val="54706E"/>
                </a:solidFill>
                <a:latin typeface="Arial"/>
                <a:ea typeface="Arial"/>
                <a:cs typeface="Arial"/>
              </a:defRPr>
            </a:pPr>
            <a:r>
              <a:rPr sz="1350" b="1">
                <a:solidFill>
                  <a:srgbClr val="54706E"/>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1E138148-725E-49A1-8003-9FDEF3853408}"/>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4706E"/>
                </a:solidFill>
                <a:latin typeface="Arial"/>
                <a:ea typeface="Arial"/>
                <a:cs typeface="Arial"/>
              </a:defRPr>
            </a:defPPr>
          </a:lstStyle>
          <a:p xmlns:a="http://schemas.openxmlformats.org/drawingml/2006/main">
            <a:pPr>
              <a:defRPr sz="1350" b="0">
                <a:solidFill>
                  <a:srgbClr val="54706E"/>
                </a:solidFill>
                <a:latin typeface="Arial"/>
                <a:ea typeface="Arial"/>
                <a:cs typeface="Arial"/>
              </a:defRPr>
            </a:pPr>
            <a:r>
              <a:rPr sz="1350" b="0">
                <a:solidFill>
                  <a:srgbClr val="54706E"/>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3CA077C0-24CF-4C9B-9BE0-D47B654BCAEE}"/>
              </a:ext>
            </a:extLst>
          </p:cNvPr>
          <p:cNvSpPr>
            <a:spLocks xmlns:a="http://schemas.openxmlformats.org/drawingml/2006/main" noGrp="1"/>
          </p:cNvSpPr>
          <p:nvPr/>
        </p:nvSpPr>
        <p:spPr>
          <a:xfrm xmlns:a="http://schemas.openxmlformats.org/drawingml/2006/main">
            <a:off x="609600" y="10287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42F35"/>
                </a:solidFill>
                <a:latin typeface="Arial"/>
                <a:ea typeface="Arial"/>
                <a:cs typeface="Arial"/>
              </a:defRPr>
            </a:defPPr>
          </a:lstStyle>
          <a:p xmlns:a="http://schemas.openxmlformats.org/drawingml/2006/main">
            <a:pPr>
              <a:defRPr sz="4050" b="1">
                <a:solidFill>
                  <a:srgbClr val="142F35"/>
                </a:solidFill>
                <a:latin typeface="Arial"/>
                <a:ea typeface="Arial"/>
                <a:cs typeface="Arial"/>
              </a:defRPr>
            </a:pPr>
            <a:r>
              <a:rPr sz="4050" b="1">
                <a:solidFill>
                  <a:srgbClr val="142F35"/>
                </a:solidFill>
                <a:latin typeface="Arial"/>
                <a:ea typeface="Arial"/>
                <a:cs typeface="Arial"/>
              </a:rPr>
              <a:t>Reece’s brief</a:t>
            </a:r>
          </a:p>
        </p:txBody>
      </p:sp>
      <p:sp>
        <p:nvSpPr>
          <p:cNvPr id="4" name="">
            <a:extLst xmlns:a="http://schemas.openxmlformats.org/drawingml/2006/main">
              <a:ext uri="{FF2B5EF4-FFF2-40B4-BE49-F238E27FC236}">
                <a16:creationId xmlns:a16="http://schemas.microsoft.com/office/drawing/2014/main" id="{DBCF865E-9676-45C4-940B-9C851C4EDD50}"/>
              </a:ext>
            </a:extLst>
          </p:cNvPr>
          <p:cNvSpPr>
            <a:spLocks xmlns:a="http://schemas.openxmlformats.org/drawingml/2006/main" noGrp="1"/>
          </p:cNvSpPr>
          <p:nvPr/>
        </p:nvSpPr>
        <p:spPr>
          <a:xfrm xmlns:a="http://schemas.openxmlformats.org/drawingml/2006/main">
            <a:off x="609600" y="2152650"/>
            <a:ext cx="10572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142F35"/>
                </a:solidFill>
                <a:latin typeface="Arial"/>
                <a:ea typeface="Arial"/>
                <a:cs typeface="Arial"/>
              </a:defRPr>
            </a:defPPr>
          </a:lstStyle>
          <a:p xmlns:a="http://schemas.openxmlformats.org/drawingml/2006/main">
            <a:pPr>
              <a:defRPr sz="4275" b="1">
                <a:solidFill>
                  <a:srgbClr val="142F35"/>
                </a:solidFill>
                <a:latin typeface="Arial"/>
                <a:ea typeface="Arial"/>
                <a:cs typeface="Arial"/>
              </a:defRPr>
            </a:pPr>
            <a:r>
              <a:rPr sz="4275" b="1">
                <a:solidFill>
                  <a:srgbClr val="142F35"/>
                </a:solidFill>
                <a:latin typeface="Arial"/>
                <a:ea typeface="Arial"/>
                <a:cs typeface="Arial"/>
              </a:rPr>
              <a:t>“A smart Pittsburgh business</a:t>
            </a:r>
          </a:p>
          <a:p xmlns:a="http://schemas.openxmlformats.org/drawingml/2006/main">
            <a:pPr>
              <a:defRPr sz="4275" b="1">
                <a:solidFill>
                  <a:srgbClr val="142F35"/>
                </a:solidFill>
                <a:latin typeface="Arial"/>
                <a:ea typeface="Arial"/>
                <a:cs typeface="Arial"/>
              </a:defRPr>
            </a:pPr>
            <a:r>
              <a:rPr sz="4275" b="1">
                <a:solidFill>
                  <a:srgbClr val="142F35"/>
                </a:solidFill>
                <a:latin typeface="Arial"/>
                <a:ea typeface="Arial"/>
                <a:cs typeface="Arial"/>
              </a:rPr>
              <a:t>directory would be cool</a:t>
            </a:r>
          </a:p>
          <a:p xmlns:a="http://schemas.openxmlformats.org/drawingml/2006/main">
            <a:pPr>
              <a:defRPr sz="4275" b="1">
                <a:solidFill>
                  <a:srgbClr val="142F35"/>
                </a:solidFill>
                <a:latin typeface="Arial"/>
                <a:ea typeface="Arial"/>
                <a:cs typeface="Arial"/>
              </a:defRPr>
            </a:pPr>
            <a:r>
              <a:rPr sz="4275" b="1">
                <a:solidFill>
                  <a:srgbClr val="142F35"/>
                </a:solidFill>
                <a:latin typeface="Arial"/>
                <a:ea typeface="Arial"/>
                <a:cs typeface="Arial"/>
              </a:rPr>
              <a:t>for everyone.”</a:t>
            </a:r>
          </a:p>
        </p:txBody>
      </p:sp>
      <p:sp>
        <p:nvSpPr>
          <p:cNvPr id="5" name="">
            <a:extLst xmlns:a="http://schemas.openxmlformats.org/drawingml/2006/main">
              <a:ext uri="{FF2B5EF4-FFF2-40B4-BE49-F238E27FC236}">
                <a16:creationId xmlns:a16="http://schemas.microsoft.com/office/drawing/2014/main" id="{7CA530C7-37BD-4B09-96A9-F96FE9B46CE6}"/>
              </a:ext>
            </a:extLst>
          </p:cNvPr>
          <p:cNvSpPr>
            <a:spLocks xmlns:a="http://schemas.openxmlformats.org/drawingml/2006/main" noGrp="1"/>
          </p:cNvSpPr>
          <p:nvPr/>
        </p:nvSpPr>
        <p:spPr>
          <a:xfrm xmlns:a="http://schemas.openxmlformats.org/drawingml/2006/main">
            <a:off x="647700" y="47244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4706E"/>
                </a:solidFill>
                <a:latin typeface="Arial"/>
                <a:ea typeface="Arial"/>
                <a:cs typeface="Arial"/>
              </a:defRPr>
            </a:defPPr>
          </a:lstStyle>
          <a:p xmlns:a="http://schemas.openxmlformats.org/drawingml/2006/main">
            <a:pPr>
              <a:defRPr sz="1800" b="0">
                <a:solidFill>
                  <a:srgbClr val="54706E"/>
                </a:solidFill>
                <a:latin typeface="Arial"/>
                <a:ea typeface="Arial"/>
                <a:cs typeface="Arial"/>
              </a:defRPr>
            </a:pPr>
            <a:r>
              <a:rPr sz="1800" b="0">
                <a:solidFill>
                  <a:srgbClr val="54706E"/>
                </a:solidFill>
                <a:latin typeface="Arial"/>
                <a:ea typeface="Arial"/>
                <a:cs typeface="Arial"/>
              </a:rPr>
              <a:t>Reece Way, client feedback</a:t>
            </a:r>
          </a:p>
        </p:txBody>
      </p:sp>
      <p:sp>
        <p:nvSpPr>
          <p:cNvPr id="6" name="">
            <a:extLst xmlns:a="http://schemas.openxmlformats.org/drawingml/2006/main">
              <a:ext uri="{FF2B5EF4-FFF2-40B4-BE49-F238E27FC236}">
                <a16:creationId xmlns:a16="http://schemas.microsoft.com/office/drawing/2014/main" id="{72417E37-6EB5-4018-9B7F-70635B5912D8}"/>
              </a:ext>
            </a:extLst>
          </p:cNvPr>
          <p:cNvSpPr>
            <a:spLocks xmlns:a="http://schemas.openxmlformats.org/drawingml/2006/main" noGrp="1"/>
          </p:cNvSpPr>
          <p:nvPr/>
        </p:nvSpPr>
        <p:spPr>
          <a:xfrm xmlns:a="http://schemas.openxmlformats.org/drawingml/2006/main">
            <a:off x="647700" y="561975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54706E"/>
                </a:solidFill>
                <a:latin typeface="Arial"/>
                <a:ea typeface="Arial"/>
                <a:cs typeface="Arial"/>
              </a:defRPr>
            </a:defPPr>
          </a:lstStyle>
          <a:p xmlns:a="http://schemas.openxmlformats.org/drawingml/2006/main">
            <a:pPr>
              <a:defRPr sz="2250" b="0">
                <a:solidFill>
                  <a:srgbClr val="54706E"/>
                </a:solidFill>
                <a:latin typeface="Arial"/>
                <a:ea typeface="Arial"/>
                <a:cs typeface="Arial"/>
              </a:defRPr>
            </a:pPr>
            <a:r>
              <a:rPr sz="2250" b="0">
                <a:solidFill>
                  <a:srgbClr val="54706E"/>
                </a:solidFill>
                <a:latin typeface="Arial"/>
                <a:ea typeface="Arial"/>
                <a:cs typeface="Arial"/>
              </a:rPr>
              <a:t>Professional offices and school districts</a:t>
            </a:r>
          </a:p>
        </p:txBody>
      </p:sp>
    </p:spTree>
    <p:extLst>
      <p:ext uri="{BB962C8B-B14F-4D97-AF65-F5344CB8AC3E}">
        <p14:creationId xmlns:p14="http://schemas.microsoft.com/office/powerpoint/2010/main" val="453167521"/>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BBC0FB-1FDC-45EE-838C-E69E4370C871}"/>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4706E"/>
                </a:solidFill>
                <a:latin typeface="Arial"/>
                <a:ea typeface="Arial"/>
                <a:cs typeface="Arial"/>
              </a:defRPr>
            </a:defPPr>
          </a:lstStyle>
          <a:p xmlns:a="http://schemas.openxmlformats.org/drawingml/2006/main">
            <a:pPr>
              <a:defRPr sz="1350" b="1">
                <a:solidFill>
                  <a:srgbClr val="54706E"/>
                </a:solidFill>
                <a:latin typeface="Arial"/>
                <a:ea typeface="Arial"/>
                <a:cs typeface="Arial"/>
              </a:defRPr>
            </a:pPr>
            <a:r>
              <a:rPr sz="1350" b="1">
                <a:solidFill>
                  <a:srgbClr val="54706E"/>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56B7F423-BF24-4759-ACBF-D2144FE3B7F2}"/>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4706E"/>
                </a:solidFill>
                <a:latin typeface="Arial"/>
                <a:ea typeface="Arial"/>
                <a:cs typeface="Arial"/>
              </a:defRPr>
            </a:defPPr>
          </a:lstStyle>
          <a:p xmlns:a="http://schemas.openxmlformats.org/drawingml/2006/main">
            <a:pPr>
              <a:defRPr sz="1350" b="0">
                <a:solidFill>
                  <a:srgbClr val="54706E"/>
                </a:solidFill>
                <a:latin typeface="Arial"/>
                <a:ea typeface="Arial"/>
                <a:cs typeface="Arial"/>
              </a:defRPr>
            </a:pPr>
            <a:r>
              <a:rPr sz="1350" b="0">
                <a:solidFill>
                  <a:srgbClr val="54706E"/>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9E9052C1-B192-4A59-B6C3-6F5FF1CE686C}"/>
              </a:ext>
            </a:extLst>
          </p:cNvPr>
          <p:cNvSpPr>
            <a:spLocks xmlns:a="http://schemas.openxmlformats.org/drawingml/2006/main" noGrp="1"/>
          </p:cNvSpPr>
          <p:nvPr/>
        </p:nvSpPr>
        <p:spPr>
          <a:xfrm xmlns:a="http://schemas.openxmlformats.org/drawingml/2006/main">
            <a:off x="609600" y="1066800"/>
            <a:ext cx="4191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800" b="1">
                <a:solidFill>
                  <a:srgbClr val="142F35"/>
                </a:solidFill>
                <a:latin typeface="Arial"/>
                <a:ea typeface="Arial"/>
                <a:cs typeface="Arial"/>
              </a:defRPr>
            </a:defPPr>
          </a:lstStyle>
          <a:p xmlns:a="http://schemas.openxmlformats.org/drawingml/2006/main">
            <a:pPr>
              <a:defRPr sz="7800" b="1">
                <a:solidFill>
                  <a:srgbClr val="142F35"/>
                </a:solidFill>
                <a:latin typeface="Arial"/>
                <a:ea typeface="Arial"/>
                <a:cs typeface="Arial"/>
              </a:defRPr>
            </a:pPr>
            <a:r>
              <a:rPr sz="7800" b="1">
                <a:solidFill>
                  <a:srgbClr val="142F35"/>
                </a:solidFill>
                <a:latin typeface="Arial"/>
                <a:ea typeface="Arial"/>
                <a:cs typeface="Arial"/>
              </a:rPr>
              <a:t>2,603</a:t>
            </a:r>
          </a:p>
        </p:txBody>
      </p:sp>
      <p:sp>
        <p:nvSpPr>
          <p:cNvPr id="4" name="">
            <a:extLst xmlns:a="http://schemas.openxmlformats.org/drawingml/2006/main">
              <a:ext uri="{FF2B5EF4-FFF2-40B4-BE49-F238E27FC236}">
                <a16:creationId xmlns:a16="http://schemas.microsoft.com/office/drawing/2014/main" id="{0A425528-7AE6-4413-9CF7-E0EBBF34D24C}"/>
              </a:ext>
            </a:extLst>
          </p:cNvPr>
          <p:cNvSpPr>
            <a:spLocks xmlns:a="http://schemas.openxmlformats.org/drawingml/2006/main" noGrp="1"/>
          </p:cNvSpPr>
          <p:nvPr/>
        </p:nvSpPr>
        <p:spPr>
          <a:xfrm xmlns:a="http://schemas.openxmlformats.org/drawingml/2006/main">
            <a:off x="647700" y="228600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54706E"/>
                </a:solidFill>
                <a:latin typeface="Arial"/>
                <a:ea typeface="Arial"/>
                <a:cs typeface="Arial"/>
              </a:defRPr>
            </a:defPPr>
          </a:lstStyle>
          <a:p xmlns:a="http://schemas.openxmlformats.org/drawingml/2006/main">
            <a:pPr>
              <a:defRPr sz="2400" b="0">
                <a:solidFill>
                  <a:srgbClr val="54706E"/>
                </a:solidFill>
                <a:latin typeface="Arial"/>
                <a:ea typeface="Arial"/>
                <a:cs typeface="Arial"/>
              </a:defRPr>
            </a:pPr>
            <a:r>
              <a:rPr sz="2400" b="0">
                <a:solidFill>
                  <a:srgbClr val="54706E"/>
                </a:solidFill>
                <a:latin typeface="Arial"/>
                <a:ea typeface="Arial"/>
                <a:cs typeface="Arial"/>
              </a:rPr>
              <a:t>business candidates</a:t>
            </a:r>
          </a:p>
        </p:txBody>
      </p:sp>
      <p:sp>
        <p:nvSpPr>
          <p:cNvPr id="5" name="">
            <a:extLst xmlns:a="http://schemas.openxmlformats.org/drawingml/2006/main">
              <a:ext uri="{FF2B5EF4-FFF2-40B4-BE49-F238E27FC236}">
                <a16:creationId xmlns:a16="http://schemas.microsoft.com/office/drawing/2014/main" id="{AEA543F8-E829-4089-9FC1-73E2A05F9324}"/>
              </a:ext>
            </a:extLst>
          </p:cNvPr>
          <p:cNvSpPr>
            <a:spLocks xmlns:a="http://schemas.openxmlformats.org/drawingml/2006/main" noGrp="1"/>
          </p:cNvSpPr>
          <p:nvPr/>
        </p:nvSpPr>
        <p:spPr>
          <a:xfrm xmlns:a="http://schemas.openxmlformats.org/drawingml/2006/main">
            <a:off x="647700" y="319087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42F35"/>
                </a:solidFill>
                <a:latin typeface="Arial"/>
                <a:ea typeface="Arial"/>
                <a:cs typeface="Arial"/>
              </a:defRPr>
            </a:defPPr>
          </a:lstStyle>
          <a:p xmlns:a="http://schemas.openxmlformats.org/drawingml/2006/main">
            <a:pPr>
              <a:defRPr sz="2775" b="1">
                <a:solidFill>
                  <a:srgbClr val="142F35"/>
                </a:solidFill>
                <a:latin typeface="Arial"/>
                <a:ea typeface="Arial"/>
                <a:cs typeface="Arial"/>
              </a:defRPr>
            </a:pPr>
            <a:r>
              <a:rPr sz="2775" b="1">
                <a:solidFill>
                  <a:srgbClr val="142F35"/>
                </a:solidFill>
                <a:latin typeface="Arial"/>
                <a:ea typeface="Arial"/>
                <a:cs typeface="Arial"/>
              </a:rPr>
              <a:t>1,059 listed websites</a:t>
            </a:r>
          </a:p>
        </p:txBody>
      </p:sp>
      <p:sp>
        <p:nvSpPr>
          <p:cNvPr id="6" name="">
            <a:extLst xmlns:a="http://schemas.openxmlformats.org/drawingml/2006/main">
              <a:ext uri="{FF2B5EF4-FFF2-40B4-BE49-F238E27FC236}">
                <a16:creationId xmlns:a16="http://schemas.microsoft.com/office/drawing/2014/main" id="{4C3C638B-3E9C-4892-97D2-CD3D44249A13}"/>
              </a:ext>
            </a:extLst>
          </p:cNvPr>
          <p:cNvSpPr>
            <a:spLocks xmlns:a="http://schemas.openxmlformats.org/drawingml/2006/main" noGrp="1"/>
          </p:cNvSpPr>
          <p:nvPr/>
        </p:nvSpPr>
        <p:spPr>
          <a:xfrm xmlns:a="http://schemas.openxmlformats.org/drawingml/2006/main">
            <a:off x="647700" y="5238750"/>
            <a:ext cx="419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4706E"/>
                </a:solidFill>
                <a:latin typeface="Arial"/>
                <a:ea typeface="Arial"/>
                <a:cs typeface="Arial"/>
              </a:defRPr>
            </a:defPPr>
          </a:lstStyle>
          <a:p xmlns:a="http://schemas.openxmlformats.org/drawingml/2006/main">
            <a:pPr>
              <a:defRPr sz="1725" b="0">
                <a:solidFill>
                  <a:srgbClr val="54706E"/>
                </a:solidFill>
                <a:latin typeface="Arial"/>
                <a:ea typeface="Arial"/>
                <a:cs typeface="Arial"/>
              </a:defRPr>
            </a:pPr>
            <a:r>
              <a:rPr sz="1725" b="0">
                <a:solidFill>
                  <a:srgbClr val="54706E"/>
                </a:solidFill>
                <a:latin typeface="Arial"/>
                <a:ea typeface="Arial"/>
                <a:cs typeface="Arial"/>
              </a:rPr>
              <a:t>Saved Pittsburgh snapshot</a:t>
            </a:r>
          </a:p>
          <a:p xmlns:a="http://schemas.openxmlformats.org/drawingml/2006/main">
            <a:pPr>
              <a:defRPr sz="1725" b="0">
                <a:solidFill>
                  <a:srgbClr val="54706E"/>
                </a:solidFill>
                <a:latin typeface="Arial"/>
                <a:ea typeface="Arial"/>
                <a:cs typeface="Arial"/>
              </a:defRPr>
            </a:pPr>
            <a:r>
              <a:rPr sz="1725" b="0">
                <a:solidFill>
                  <a:srgbClr val="54706E"/>
                </a:solidFill>
                <a:latin typeface="Arial"/>
                <a:ea typeface="Arial"/>
                <a:cs typeface="Arial"/>
              </a:rPr>
              <a:t>Listings remain unverified</a:t>
            </a:r>
          </a:p>
        </p:txBody>
      </p:sp>
      <p:pic>
        <p:nvPicPr>
          <p:cNvPr id="7" name="">
            <a:extLst xmlns:a="http://schemas.openxmlformats.org/drawingml/2006/main">
              <a:ext uri="{FF2B5EF4-FFF2-40B4-BE49-F238E27FC236}">
                <a16:creationId xmlns:a16="http://schemas.microsoft.com/office/drawing/2014/main" id="{29953D37-7189-41B3-9268-E190E5EF244C}"/>
              </a:ext>
            </a:extLst>
          </p:cNvPr>
          <p:cNvPicPr>
            <a:picLocks xmlns:a="http://schemas.openxmlformats.org/drawingml/2006/main" noChangeAspect="1"/>
          </p:cNvPicPr>
          <p:nvPr/>
        </p:nvPicPr>
        <p:blipFill>
          <a:blip xmlns:r="http://schemas.openxmlformats.org/officeDocument/2006/relationships" xmlns:a="http://schemas.openxmlformats.org/drawingml/2006/main" r:embed="R228965d6a7364dce"/>
          <a:stretch xmlns:a="http://schemas.openxmlformats.org/drawingml/2006/main"/>
        </p:blipFill>
        <p:spPr>
          <a:xfrm xmlns:a="http://schemas.openxmlformats.org/drawingml/2006/main">
            <a:off x="5000625" y="1600238"/>
            <a:ext cx="6667500" cy="3752775"/>
          </a:xfrm>
          <a:prstGeom xmlns:a="http://schemas.openxmlformats.org/drawingml/2006/main" prst="rect">
            <a:avLst/>
          </a:prstGeom>
        </p:spPr>
      </p:pic>
    </p:spTree>
    <p:extLst>
      <p:ext uri="{BB962C8B-B14F-4D97-AF65-F5344CB8AC3E}">
        <p14:creationId xmlns:p14="http://schemas.microsoft.com/office/powerpoint/2010/main" val="734629078"/>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6FEC82-C8A2-463F-A914-778B1F135125}"/>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4706E"/>
                </a:solidFill>
                <a:latin typeface="Arial"/>
                <a:ea typeface="Arial"/>
                <a:cs typeface="Arial"/>
              </a:defRPr>
            </a:defPPr>
          </a:lstStyle>
          <a:p xmlns:a="http://schemas.openxmlformats.org/drawingml/2006/main">
            <a:pPr>
              <a:defRPr sz="1350" b="1">
                <a:solidFill>
                  <a:srgbClr val="54706E"/>
                </a:solidFill>
                <a:latin typeface="Arial"/>
                <a:ea typeface="Arial"/>
                <a:cs typeface="Arial"/>
              </a:defRPr>
            </a:pPr>
            <a:r>
              <a:rPr sz="1350" b="1">
                <a:solidFill>
                  <a:srgbClr val="54706E"/>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8866EBB1-D182-4185-9B4C-F1A52FB6268E}"/>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4706E"/>
                </a:solidFill>
                <a:latin typeface="Arial"/>
                <a:ea typeface="Arial"/>
                <a:cs typeface="Arial"/>
              </a:defRPr>
            </a:defPPr>
          </a:lstStyle>
          <a:p xmlns:a="http://schemas.openxmlformats.org/drawingml/2006/main">
            <a:pPr>
              <a:defRPr sz="1350" b="0">
                <a:solidFill>
                  <a:srgbClr val="54706E"/>
                </a:solidFill>
                <a:latin typeface="Arial"/>
                <a:ea typeface="Arial"/>
                <a:cs typeface="Arial"/>
              </a:defRPr>
            </a:pPr>
            <a:r>
              <a:rPr sz="1350" b="0">
                <a:solidFill>
                  <a:srgbClr val="54706E"/>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F33707D-9CDF-405F-8BBA-257BD726719B}"/>
              </a:ext>
            </a:extLst>
          </p:cNvPr>
          <p:cNvSpPr>
            <a:spLocks xmlns:a="http://schemas.openxmlformats.org/drawingml/2006/main" noGrp="1"/>
          </p:cNvSpPr>
          <p:nvPr/>
        </p:nvSpPr>
        <p:spPr>
          <a:xfrm xmlns:a="http://schemas.openxmlformats.org/drawingml/2006/main">
            <a:off x="609600" y="1009650"/>
            <a:ext cx="428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F35"/>
                </a:solidFill>
                <a:latin typeface="Arial"/>
                <a:ea typeface="Arial"/>
                <a:cs typeface="Arial"/>
              </a:defRPr>
            </a:defPPr>
          </a:lstStyle>
          <a:p xmlns:a="http://schemas.openxmlformats.org/drawingml/2006/main">
            <a:pPr>
              <a:defRPr sz="3450" b="1">
                <a:solidFill>
                  <a:srgbClr val="142F35"/>
                </a:solidFill>
                <a:latin typeface="Arial"/>
                <a:ea typeface="Arial"/>
                <a:cs typeface="Arial"/>
              </a:defRPr>
            </a:pPr>
            <a:r>
              <a:rPr sz="3450" b="1">
                <a:solidFill>
                  <a:srgbClr val="142F35"/>
                </a:solidFill>
                <a:latin typeface="Arial"/>
                <a:ea typeface="Arial"/>
                <a:cs typeface="Arial"/>
              </a:rPr>
              <a:t>One question becomes</a:t>
            </a:r>
          </a:p>
          <a:p xmlns:a="http://schemas.openxmlformats.org/drawingml/2006/main">
            <a:pPr>
              <a:defRPr sz="3450" b="1">
                <a:solidFill>
                  <a:srgbClr val="142F35"/>
                </a:solidFill>
                <a:latin typeface="Arial"/>
                <a:ea typeface="Arial"/>
                <a:cs typeface="Arial"/>
              </a:defRPr>
            </a:pPr>
            <a:r>
              <a:rPr sz="3450" b="1">
                <a:solidFill>
                  <a:srgbClr val="142F35"/>
                </a:solidFill>
                <a:latin typeface="Arial"/>
                <a:ea typeface="Arial"/>
                <a:cs typeface="Arial"/>
              </a:rPr>
              <a:t>a focused search</a:t>
            </a:r>
          </a:p>
        </p:txBody>
      </p:sp>
      <p:sp>
        <p:nvSpPr>
          <p:cNvPr id="4" name="">
            <a:extLst xmlns:a="http://schemas.openxmlformats.org/drawingml/2006/main">
              <a:ext uri="{FF2B5EF4-FFF2-40B4-BE49-F238E27FC236}">
                <a16:creationId xmlns:a16="http://schemas.microsoft.com/office/drawing/2014/main" id="{02958327-DD50-4C5F-AE49-4C07F12DCB9A}"/>
              </a:ext>
            </a:extLst>
          </p:cNvPr>
          <p:cNvSpPr>
            <a:spLocks xmlns:a="http://schemas.openxmlformats.org/drawingml/2006/main" noGrp="1"/>
          </p:cNvSpPr>
          <p:nvPr/>
        </p:nvSpPr>
        <p:spPr>
          <a:xfrm xmlns:a="http://schemas.openxmlformats.org/drawingml/2006/main">
            <a:off x="647700" y="299085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54706E"/>
                </a:solidFill>
                <a:latin typeface="Arial"/>
                <a:ea typeface="Arial"/>
                <a:cs typeface="Arial"/>
              </a:defRPr>
            </a:defPPr>
          </a:lstStyle>
          <a:p xmlns:a="http://schemas.openxmlformats.org/drawingml/2006/main">
            <a:pPr>
              <a:defRPr sz="2850" b="0">
                <a:solidFill>
                  <a:srgbClr val="54706E"/>
                </a:solidFill>
                <a:latin typeface="Arial"/>
                <a:ea typeface="Arial"/>
                <a:cs typeface="Arial"/>
              </a:defRPr>
            </a:pPr>
            <a:r>
              <a:rPr sz="2850" b="0">
                <a:solidFill>
                  <a:srgbClr val="54706E"/>
                </a:solidFill>
                <a:latin typeface="Arial"/>
                <a:ea typeface="Arial"/>
                <a:cs typeface="Arial"/>
              </a:rPr>
              <a:t>“Find legal services”</a:t>
            </a:r>
          </a:p>
        </p:txBody>
      </p:sp>
      <p:sp>
        <p:nvSpPr>
          <p:cNvPr id="5" name="">
            <a:extLst xmlns:a="http://schemas.openxmlformats.org/drawingml/2006/main">
              <a:ext uri="{FF2B5EF4-FFF2-40B4-BE49-F238E27FC236}">
                <a16:creationId xmlns:a16="http://schemas.microsoft.com/office/drawing/2014/main" id="{DF627855-6FF7-4C5D-AFC2-4DDF2D841EE5}"/>
              </a:ext>
            </a:extLst>
          </p:cNvPr>
          <p:cNvSpPr>
            <a:spLocks xmlns:a="http://schemas.openxmlformats.org/drawingml/2006/main" noGrp="1"/>
          </p:cNvSpPr>
          <p:nvPr/>
        </p:nvSpPr>
        <p:spPr>
          <a:xfrm xmlns:a="http://schemas.openxmlformats.org/drawingml/2006/main">
            <a:off x="647700" y="4629150"/>
            <a:ext cx="419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42F35"/>
                </a:solidFill>
                <a:latin typeface="Arial"/>
                <a:ea typeface="Arial"/>
                <a:cs typeface="Arial"/>
              </a:defRPr>
            </a:defPPr>
          </a:lstStyle>
          <a:p xmlns:a="http://schemas.openxmlformats.org/drawingml/2006/main">
            <a:pPr>
              <a:defRPr sz="3525" b="1">
                <a:solidFill>
                  <a:srgbClr val="142F35"/>
                </a:solidFill>
                <a:latin typeface="Arial"/>
                <a:ea typeface="Arial"/>
                <a:cs typeface="Arial"/>
              </a:defRPr>
            </a:pPr>
            <a:r>
              <a:rPr sz="3525" b="1">
                <a:solidFill>
                  <a:srgbClr val="142F35"/>
                </a:solidFill>
                <a:latin typeface="Arial"/>
                <a:ea typeface="Arial"/>
                <a:cs typeface="Arial"/>
              </a:rPr>
              <a:t>22 candidates</a:t>
            </a:r>
          </a:p>
        </p:txBody>
      </p:sp>
      <p:sp>
        <p:nvSpPr>
          <p:cNvPr id="6" name="">
            <a:extLst xmlns:a="http://schemas.openxmlformats.org/drawingml/2006/main">
              <a:ext uri="{FF2B5EF4-FFF2-40B4-BE49-F238E27FC236}">
                <a16:creationId xmlns:a16="http://schemas.microsoft.com/office/drawing/2014/main" id="{3958B887-3C95-4825-A82E-287EF2F3FE87}"/>
              </a:ext>
            </a:extLst>
          </p:cNvPr>
          <p:cNvSpPr>
            <a:spLocks xmlns:a="http://schemas.openxmlformats.org/drawingml/2006/main" noGrp="1"/>
          </p:cNvSpPr>
          <p:nvPr/>
        </p:nvSpPr>
        <p:spPr>
          <a:xfrm xmlns:a="http://schemas.openxmlformats.org/drawingml/2006/main">
            <a:off x="647700" y="542925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4706E"/>
                </a:solidFill>
                <a:latin typeface="Arial"/>
                <a:ea typeface="Arial"/>
                <a:cs typeface="Arial"/>
              </a:defRPr>
            </a:defPPr>
          </a:lstStyle>
          <a:p xmlns:a="http://schemas.openxmlformats.org/drawingml/2006/main">
            <a:pPr>
              <a:defRPr sz="1875" b="0">
                <a:solidFill>
                  <a:srgbClr val="54706E"/>
                </a:solidFill>
                <a:latin typeface="Arial"/>
                <a:ea typeface="Arial"/>
                <a:cs typeface="Arial"/>
              </a:defRPr>
            </a:pPr>
            <a:r>
              <a:rPr sz="1875" b="0">
                <a:solidFill>
                  <a:srgbClr val="54706E"/>
                </a:solidFill>
                <a:latin typeface="Arial"/>
                <a:ea typeface="Arial"/>
                <a:cs typeface="Arial"/>
              </a:rPr>
              <a:t>0 new external page requests</a:t>
            </a:r>
          </a:p>
        </p:txBody>
      </p:sp>
      <p:pic>
        <p:nvPicPr>
          <p:cNvPr id="7" name="">
            <a:extLst xmlns:a="http://schemas.openxmlformats.org/drawingml/2006/main">
              <a:ext uri="{FF2B5EF4-FFF2-40B4-BE49-F238E27FC236}">
                <a16:creationId xmlns:a16="http://schemas.microsoft.com/office/drawing/2014/main" id="{4D94C051-4DFD-4551-B28C-D534295C2340}"/>
              </a:ext>
            </a:extLst>
          </p:cNvPr>
          <p:cNvPicPr>
            <a:picLocks xmlns:a="http://schemas.openxmlformats.org/drawingml/2006/main" noChangeAspect="1"/>
          </p:cNvPicPr>
          <p:nvPr/>
        </p:nvPicPr>
        <p:blipFill>
          <a:blip xmlns:r="http://schemas.openxmlformats.org/officeDocument/2006/relationships" xmlns:a="http://schemas.openxmlformats.org/drawingml/2006/main" r:embed="R32028613d1264f10"/>
          <a:srcRect xmlns:a="http://schemas.openxmlformats.org/drawingml/2006/main" l="19000" t="20000" r="3000" b="0"/>
          <a:stretch xmlns:a="http://schemas.openxmlformats.org/drawingml/2006/main"/>
        </p:blipFill>
        <p:spPr>
          <a:xfrm xmlns:a="http://schemas.openxmlformats.org/drawingml/2006/main">
            <a:off x="5048250" y="1580784"/>
            <a:ext cx="6572250" cy="3791683"/>
          </a:xfrm>
          <a:prstGeom xmlns:a="http://schemas.openxmlformats.org/drawingml/2006/main" prst="rect">
            <a:avLst/>
          </a:prstGeom>
        </p:spPr>
      </p:pic>
    </p:spTree>
    <p:extLst>
      <p:ext uri="{BB962C8B-B14F-4D97-AF65-F5344CB8AC3E}">
        <p14:creationId xmlns:p14="http://schemas.microsoft.com/office/powerpoint/2010/main" val="1504661202"/>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724FCD-74BC-437A-B429-9957F5B80E05}"/>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4706E"/>
                </a:solidFill>
                <a:latin typeface="Arial"/>
                <a:ea typeface="Arial"/>
                <a:cs typeface="Arial"/>
              </a:defRPr>
            </a:defPPr>
          </a:lstStyle>
          <a:p xmlns:a="http://schemas.openxmlformats.org/drawingml/2006/main">
            <a:pPr>
              <a:defRPr sz="1350" b="1">
                <a:solidFill>
                  <a:srgbClr val="54706E"/>
                </a:solidFill>
                <a:latin typeface="Arial"/>
                <a:ea typeface="Arial"/>
                <a:cs typeface="Arial"/>
              </a:defRPr>
            </a:pPr>
            <a:r>
              <a:rPr sz="1350" b="1">
                <a:solidFill>
                  <a:srgbClr val="54706E"/>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9F149C12-0B3A-43B1-A971-B5A556A9B1DA}"/>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4706E"/>
                </a:solidFill>
                <a:latin typeface="Arial"/>
                <a:ea typeface="Arial"/>
                <a:cs typeface="Arial"/>
              </a:defRPr>
            </a:defPPr>
          </a:lstStyle>
          <a:p xmlns:a="http://schemas.openxmlformats.org/drawingml/2006/main">
            <a:pPr>
              <a:defRPr sz="1350" b="0">
                <a:solidFill>
                  <a:srgbClr val="54706E"/>
                </a:solidFill>
                <a:latin typeface="Arial"/>
                <a:ea typeface="Arial"/>
                <a:cs typeface="Arial"/>
              </a:defRPr>
            </a:pPr>
            <a:r>
              <a:rPr sz="1350" b="0">
                <a:solidFill>
                  <a:srgbClr val="54706E"/>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131C0350-9CA3-480B-B4E6-CA92496CF69E}"/>
              </a:ext>
            </a:extLst>
          </p:cNvPr>
          <p:cNvSpPr>
            <a:spLocks xmlns:a="http://schemas.openxmlformats.org/drawingml/2006/main" noGrp="1"/>
          </p:cNvSpPr>
          <p:nvPr/>
        </p:nvSpPr>
        <p:spPr>
          <a:xfrm xmlns:a="http://schemas.openxmlformats.org/drawingml/2006/main">
            <a:off x="609600" y="971550"/>
            <a:ext cx="428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F35"/>
                </a:solidFill>
                <a:latin typeface="Arial"/>
                <a:ea typeface="Arial"/>
                <a:cs typeface="Arial"/>
              </a:defRPr>
            </a:defPPr>
          </a:lstStyle>
          <a:p xmlns:a="http://schemas.openxmlformats.org/drawingml/2006/main">
            <a:pPr>
              <a:defRPr sz="3450" b="1">
                <a:solidFill>
                  <a:srgbClr val="142F35"/>
                </a:solidFill>
                <a:latin typeface="Arial"/>
                <a:ea typeface="Arial"/>
                <a:cs typeface="Arial"/>
              </a:defRPr>
            </a:pPr>
            <a:r>
              <a:rPr sz="3450" b="1">
                <a:solidFill>
                  <a:srgbClr val="142F35"/>
                </a:solidFill>
                <a:latin typeface="Arial"/>
                <a:ea typeface="Arial"/>
                <a:cs typeface="Arial"/>
              </a:rPr>
              <a:t>The evidence stays</a:t>
            </a:r>
          </a:p>
          <a:p xmlns:a="http://schemas.openxmlformats.org/drawingml/2006/main">
            <a:pPr>
              <a:defRPr sz="3450" b="1">
                <a:solidFill>
                  <a:srgbClr val="142F35"/>
                </a:solidFill>
                <a:latin typeface="Arial"/>
                <a:ea typeface="Arial"/>
                <a:cs typeface="Arial"/>
              </a:defRPr>
            </a:pPr>
            <a:r>
              <a:rPr sz="3450" b="1">
                <a:solidFill>
                  <a:srgbClr val="142F35"/>
                </a:solidFill>
                <a:latin typeface="Arial"/>
                <a:ea typeface="Arial"/>
                <a:cs typeface="Arial"/>
              </a:rPr>
              <a:t>beside the result</a:t>
            </a:r>
          </a:p>
        </p:txBody>
      </p:sp>
      <p:sp>
        <p:nvSpPr>
          <p:cNvPr id="4" name="">
            <a:extLst xmlns:a="http://schemas.openxmlformats.org/drawingml/2006/main">
              <a:ext uri="{FF2B5EF4-FFF2-40B4-BE49-F238E27FC236}">
                <a16:creationId xmlns:a16="http://schemas.microsoft.com/office/drawing/2014/main" id="{2AD5B1B6-C6DD-4D7F-AF93-FFFFC4923B63}"/>
              </a:ext>
            </a:extLst>
          </p:cNvPr>
          <p:cNvSpPr>
            <a:spLocks xmlns:a="http://schemas.openxmlformats.org/drawingml/2006/main" noGrp="1"/>
          </p:cNvSpPr>
          <p:nvPr/>
        </p:nvSpPr>
        <p:spPr>
          <a:xfrm xmlns:a="http://schemas.openxmlformats.org/drawingml/2006/main">
            <a:off x="647700" y="3286125"/>
            <a:ext cx="3952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54706E"/>
                </a:solidFill>
                <a:latin typeface="Arial"/>
                <a:ea typeface="Arial"/>
                <a:cs typeface="Arial"/>
              </a:defRPr>
            </a:defPPr>
          </a:lstStyle>
          <a:p xmlns:a="http://schemas.openxmlformats.org/drawingml/2006/main">
            <a:pPr>
              <a:defRPr sz="2625" b="0">
                <a:solidFill>
                  <a:srgbClr val="54706E"/>
                </a:solidFill>
                <a:latin typeface="Arial"/>
                <a:ea typeface="Arial"/>
                <a:cs typeface="Arial"/>
              </a:defRPr>
            </a:pPr>
            <a:r>
              <a:rPr sz="2625" b="0">
                <a:solidFill>
                  <a:srgbClr val="54706E"/>
                </a:solidFill>
                <a:latin typeface="Arial"/>
                <a:ea typeface="Arial"/>
                <a:cs typeface="Arial"/>
              </a:rPr>
              <a:t>Source links</a:t>
            </a:r>
          </a:p>
          <a:p xmlns:a="http://schemas.openxmlformats.org/drawingml/2006/main">
            <a:pPr>
              <a:defRPr sz="2625" b="0">
                <a:solidFill>
                  <a:srgbClr val="54706E"/>
                </a:solidFill>
                <a:latin typeface="Arial"/>
                <a:ea typeface="Arial"/>
                <a:cs typeface="Arial"/>
              </a:defRPr>
            </a:pPr>
            <a:r>
              <a:rPr sz="2625" b="0">
                <a:solidFill>
                  <a:srgbClr val="54706E"/>
                </a:solidFill>
                <a:latin typeface="Arial"/>
                <a:ea typeface="Arial"/>
                <a:cs typeface="Arial"/>
              </a:rPr>
              <a:t>Observation dates</a:t>
            </a:r>
          </a:p>
          <a:p xmlns:a="http://schemas.openxmlformats.org/drawingml/2006/main">
            <a:pPr>
              <a:defRPr sz="2625" b="0">
                <a:solidFill>
                  <a:srgbClr val="54706E"/>
                </a:solidFill>
                <a:latin typeface="Arial"/>
                <a:ea typeface="Arial"/>
                <a:cs typeface="Arial"/>
              </a:defRPr>
            </a:pPr>
            <a:r>
              <a:rPr sz="2625" b="0">
                <a:solidFill>
                  <a:srgbClr val="54706E"/>
                </a:solidFill>
                <a:latin typeface="Arial"/>
                <a:ea typeface="Arial"/>
                <a:cs typeface="Arial"/>
              </a:rPr>
              <a:t>Explicit unknowns</a:t>
            </a:r>
          </a:p>
        </p:txBody>
      </p:sp>
      <p:pic>
        <p:nvPicPr>
          <p:cNvPr id="5" name="">
            <a:extLst xmlns:a="http://schemas.openxmlformats.org/drawingml/2006/main">
              <a:ext uri="{FF2B5EF4-FFF2-40B4-BE49-F238E27FC236}">
                <a16:creationId xmlns:a16="http://schemas.microsoft.com/office/drawing/2014/main" id="{62D53224-7464-4BD8-BA08-88D292C6DE87}"/>
              </a:ext>
            </a:extLst>
          </p:cNvPr>
          <p:cNvPicPr>
            <a:picLocks xmlns:a="http://schemas.openxmlformats.org/drawingml/2006/main" noChangeAspect="1"/>
          </p:cNvPicPr>
          <p:nvPr/>
        </p:nvPicPr>
        <p:blipFill>
          <a:blip xmlns:r="http://schemas.openxmlformats.org/officeDocument/2006/relationships" xmlns:a="http://schemas.openxmlformats.org/drawingml/2006/main" r:embed="Red547cd7fcde461f"/>
          <a:srcRect xmlns:a="http://schemas.openxmlformats.org/drawingml/2006/main" l="22000" t="19000" r="4000" b="3000"/>
          <a:stretch xmlns:a="http://schemas.openxmlformats.org/drawingml/2006/main"/>
        </p:blipFill>
        <p:spPr>
          <a:xfrm xmlns:a="http://schemas.openxmlformats.org/drawingml/2006/main">
            <a:off x="4953000" y="1523839"/>
            <a:ext cx="6667500" cy="3953197"/>
          </a:xfrm>
          <a:prstGeom xmlns:a="http://schemas.openxmlformats.org/drawingml/2006/main" prst="rect">
            <a:avLst/>
          </a:prstGeom>
        </p:spPr>
      </p:pic>
    </p:spTree>
    <p:extLst>
      <p:ext uri="{BB962C8B-B14F-4D97-AF65-F5344CB8AC3E}">
        <p14:creationId xmlns:p14="http://schemas.microsoft.com/office/powerpoint/2010/main" val="698227895"/>
      </p:ext>
    </p:extLst>
  </p:cSld>
</p:sld>
</file>

<file path=ppt/slides/slide6.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70309D-9BBD-4A3B-84A4-D34FF13893E0}"/>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4706E"/>
                </a:solidFill>
                <a:latin typeface="Arial"/>
                <a:ea typeface="Arial"/>
                <a:cs typeface="Arial"/>
              </a:defRPr>
            </a:defPPr>
          </a:lstStyle>
          <a:p xmlns:a="http://schemas.openxmlformats.org/drawingml/2006/main">
            <a:pPr>
              <a:defRPr sz="1350" b="1">
                <a:solidFill>
                  <a:srgbClr val="54706E"/>
                </a:solidFill>
                <a:latin typeface="Arial"/>
                <a:ea typeface="Arial"/>
                <a:cs typeface="Arial"/>
              </a:defRPr>
            </a:pPr>
            <a:r>
              <a:rPr sz="1350" b="1">
                <a:solidFill>
                  <a:srgbClr val="54706E"/>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FA1958C1-497C-4831-B7CB-025BBA80E587}"/>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4706E"/>
                </a:solidFill>
                <a:latin typeface="Arial"/>
                <a:ea typeface="Arial"/>
                <a:cs typeface="Arial"/>
              </a:defRPr>
            </a:defPPr>
          </a:lstStyle>
          <a:p xmlns:a="http://schemas.openxmlformats.org/drawingml/2006/main">
            <a:pPr>
              <a:defRPr sz="1350" b="0">
                <a:solidFill>
                  <a:srgbClr val="54706E"/>
                </a:solidFill>
                <a:latin typeface="Arial"/>
                <a:ea typeface="Arial"/>
                <a:cs typeface="Arial"/>
              </a:defRPr>
            </a:pPr>
            <a:r>
              <a:rPr sz="1350" b="0">
                <a:solidFill>
                  <a:srgbClr val="54706E"/>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26CB034-E30B-43B6-8498-6057CDDD7CDA}"/>
              </a:ext>
            </a:extLst>
          </p:cNvPr>
          <p:cNvSpPr>
            <a:spLocks xmlns:a="http://schemas.openxmlformats.org/drawingml/2006/main" noGrp="1"/>
          </p:cNvSpPr>
          <p:nvPr/>
        </p:nvSpPr>
        <p:spPr>
          <a:xfrm xmlns:a="http://schemas.openxmlformats.org/drawingml/2006/main">
            <a:off x="609600" y="1009650"/>
            <a:ext cx="657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42F35"/>
                </a:solidFill>
                <a:latin typeface="Arial"/>
                <a:ea typeface="Arial"/>
                <a:cs typeface="Arial"/>
              </a:defRPr>
            </a:defPPr>
          </a:lstStyle>
          <a:p xmlns:a="http://schemas.openxmlformats.org/drawingml/2006/main">
            <a:pPr>
              <a:defRPr sz="4050" b="1">
                <a:solidFill>
                  <a:srgbClr val="142F35"/>
                </a:solidFill>
                <a:latin typeface="Arial"/>
                <a:ea typeface="Arial"/>
                <a:cs typeface="Arial"/>
              </a:defRPr>
            </a:pPr>
            <a:r>
              <a:rPr sz="4050" b="1">
                <a:solidFill>
                  <a:srgbClr val="142F35"/>
                </a:solidFill>
                <a:latin typeface="Arial"/>
                <a:ea typeface="Arial"/>
                <a:cs typeface="Arial"/>
              </a:rPr>
              <a:t>A concrete reason</a:t>
            </a:r>
          </a:p>
          <a:p xmlns:a="http://schemas.openxmlformats.org/drawingml/2006/main">
            <a:pPr>
              <a:defRPr sz="4050" b="1">
                <a:solidFill>
                  <a:srgbClr val="142F35"/>
                </a:solidFill>
                <a:latin typeface="Arial"/>
                <a:ea typeface="Arial"/>
                <a:cs typeface="Arial"/>
              </a:defRPr>
            </a:pPr>
            <a:r>
              <a:rPr sz="4050" b="1">
                <a:solidFill>
                  <a:srgbClr val="142F35"/>
                </a:solidFill>
                <a:latin typeface="Arial"/>
                <a:ea typeface="Arial"/>
                <a:cs typeface="Arial"/>
              </a:rPr>
              <a:t>to investigate</a:t>
            </a:r>
          </a:p>
        </p:txBody>
      </p:sp>
      <p:sp>
        <p:nvSpPr>
          <p:cNvPr id="4" name="">
            <a:extLst xmlns:a="http://schemas.openxmlformats.org/drawingml/2006/main">
              <a:ext uri="{FF2B5EF4-FFF2-40B4-BE49-F238E27FC236}">
                <a16:creationId xmlns:a16="http://schemas.microsoft.com/office/drawing/2014/main" id="{87D0E8E6-1FD3-45A3-80F2-C2471D96CEAC}"/>
              </a:ext>
            </a:extLst>
          </p:cNvPr>
          <p:cNvSpPr>
            <a:spLocks xmlns:a="http://schemas.openxmlformats.org/drawingml/2006/main" noGrp="1"/>
          </p:cNvSpPr>
          <p:nvPr/>
        </p:nvSpPr>
        <p:spPr>
          <a:xfrm xmlns:a="http://schemas.openxmlformats.org/drawingml/2006/main">
            <a:off x="647700" y="3162300"/>
            <a:ext cx="6000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54706E"/>
                </a:solidFill>
                <a:latin typeface="Arial"/>
                <a:ea typeface="Arial"/>
                <a:cs typeface="Arial"/>
              </a:defRPr>
            </a:defPPr>
          </a:lstStyle>
          <a:p xmlns:a="http://schemas.openxmlformats.org/drawingml/2006/main">
            <a:pPr>
              <a:defRPr sz="2850" b="0">
                <a:solidFill>
                  <a:srgbClr val="54706E"/>
                </a:solidFill>
                <a:latin typeface="Arial"/>
                <a:ea typeface="Arial"/>
                <a:cs typeface="Arial"/>
              </a:defRPr>
            </a:pPr>
            <a:r>
              <a:rPr sz="2850" b="0">
                <a:solidFill>
                  <a:srgbClr val="54706E"/>
                </a:solidFill>
                <a:latin typeface="Arial"/>
                <a:ea typeface="Arial"/>
                <a:cs typeface="Arial"/>
              </a:rPr>
              <a:t>Website findings</a:t>
            </a:r>
          </a:p>
          <a:p xmlns:a="http://schemas.openxmlformats.org/drawingml/2006/main">
            <a:pPr>
              <a:defRPr sz="2850" b="0">
                <a:solidFill>
                  <a:srgbClr val="54706E"/>
                </a:solidFill>
                <a:latin typeface="Arial"/>
                <a:ea typeface="Arial"/>
                <a:cs typeface="Arial"/>
              </a:defRPr>
            </a:pPr>
            <a:r>
              <a:rPr sz="2850" b="0">
                <a:solidFill>
                  <a:srgbClr val="54706E"/>
                </a:solidFill>
                <a:latin typeface="Arial"/>
                <a:ea typeface="Arial"/>
                <a:cs typeface="Arial"/>
              </a:rPr>
              <a:t>with a saved URL</a:t>
            </a:r>
          </a:p>
          <a:p xmlns:a="http://schemas.openxmlformats.org/drawingml/2006/main">
            <a:pPr>
              <a:defRPr sz="2850" b="0">
                <a:solidFill>
                  <a:srgbClr val="54706E"/>
                </a:solidFill>
                <a:latin typeface="Arial"/>
                <a:ea typeface="Arial"/>
                <a:cs typeface="Arial"/>
              </a:defRPr>
            </a:pPr>
            <a:r>
              <a:rPr sz="2850" b="0">
                <a:solidFill>
                  <a:srgbClr val="54706E"/>
                </a:solidFill>
                <a:latin typeface="Arial"/>
                <a:ea typeface="Arial"/>
                <a:cs typeface="Arial"/>
              </a:rPr>
              <a:t>and observation time</a:t>
            </a:r>
          </a:p>
        </p:txBody>
      </p:sp>
      <p:sp>
        <p:nvSpPr>
          <p:cNvPr id="5" name="">
            <a:extLst xmlns:a="http://schemas.openxmlformats.org/drawingml/2006/main">
              <a:ext uri="{FF2B5EF4-FFF2-40B4-BE49-F238E27FC236}">
                <a16:creationId xmlns:a16="http://schemas.microsoft.com/office/drawing/2014/main" id="{AC6F52E3-8438-4EAB-B3C3-108B8CE53670}"/>
              </a:ext>
            </a:extLst>
          </p:cNvPr>
          <p:cNvSpPr>
            <a:spLocks xmlns:a="http://schemas.openxmlformats.org/drawingml/2006/main" noGrp="1"/>
          </p:cNvSpPr>
          <p:nvPr/>
        </p:nvSpPr>
        <p:spPr>
          <a:xfrm xmlns:a="http://schemas.openxmlformats.org/drawingml/2006/main">
            <a:off x="647700" y="55816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4706E"/>
                </a:solidFill>
                <a:latin typeface="Arial"/>
                <a:ea typeface="Arial"/>
                <a:cs typeface="Arial"/>
              </a:defRPr>
            </a:defPPr>
          </a:lstStyle>
          <a:p xmlns:a="http://schemas.openxmlformats.org/drawingml/2006/main">
            <a:pPr>
              <a:defRPr sz="1650" b="0">
                <a:solidFill>
                  <a:srgbClr val="54706E"/>
                </a:solidFill>
                <a:latin typeface="Arial"/>
                <a:ea typeface="Arial"/>
                <a:cs typeface="Arial"/>
              </a:defRPr>
            </a:pPr>
            <a:r>
              <a:rPr sz="1650" b="0">
                <a:solidFill>
                  <a:srgbClr val="54706E"/>
                </a:solidFill>
                <a:latin typeface="Arial"/>
                <a:ea typeface="Arial"/>
                <a:cs typeface="Arial"/>
              </a:rPr>
              <a:t>Technical checklist; human review required</a:t>
            </a:r>
          </a:p>
        </p:txBody>
      </p:sp>
      <p:pic>
        <p:nvPicPr>
          <p:cNvPr id="6" name="">
            <a:extLst xmlns:a="http://schemas.openxmlformats.org/drawingml/2006/main">
              <a:ext uri="{FF2B5EF4-FFF2-40B4-BE49-F238E27FC236}">
                <a16:creationId xmlns:a16="http://schemas.microsoft.com/office/drawing/2014/main" id="{8D44CC21-2F64-4962-BF82-CF62A2ECF70E}"/>
              </a:ext>
            </a:extLst>
          </p:cNvPr>
          <p:cNvPicPr>
            <a:picLocks xmlns:a="http://schemas.openxmlformats.org/drawingml/2006/main" noChangeAspect="1"/>
          </p:cNvPicPr>
          <p:nvPr/>
        </p:nvPicPr>
        <p:blipFill>
          <a:blip xmlns:r="http://schemas.openxmlformats.org/officeDocument/2006/relationships" xmlns:a="http://schemas.openxmlformats.org/drawingml/2006/main" r:embed="Rd5cbc23003e044a3"/>
          <a:srcRect xmlns:a="http://schemas.openxmlformats.org/drawingml/2006/main" l="63700" t="9000" r="1500" b="0"/>
          <a:stretch xmlns:a="http://schemas.openxmlformats.org/drawingml/2006/main"/>
        </p:blipFill>
        <p:spPr>
          <a:xfrm xmlns:a="http://schemas.openxmlformats.org/drawingml/2006/main">
            <a:off x="7750890" y="762000"/>
            <a:ext cx="3691095" cy="5429250"/>
          </a:xfrm>
          <a:prstGeom xmlns:a="http://schemas.openxmlformats.org/drawingml/2006/main" prst="rect">
            <a:avLst/>
          </a:prstGeom>
        </p:spPr>
      </p:pic>
    </p:spTree>
    <p:extLst>
      <p:ext uri="{BB962C8B-B14F-4D97-AF65-F5344CB8AC3E}">
        <p14:creationId xmlns:p14="http://schemas.microsoft.com/office/powerpoint/2010/main" val="1377796163"/>
      </p:ext>
    </p:extLst>
  </p:cSld>
</p:sld>
</file>

<file path=ppt/slides/slide7.xml><?xml version="1.0" encoding="utf-8"?>
<p:sld xmlns:p="http://schemas.openxmlformats.org/presentationml/2006/main">
  <p:cSld>
    <p:bg>
      <p:bgPr>
        <a:solidFill xmlns:a="http://schemas.openxmlformats.org/drawingml/2006/main">
          <a:srgbClr val="142F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6AEF2B-47F9-4697-905E-0359BC31CD9A}"/>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70D1BB"/>
                </a:solidFill>
                <a:latin typeface="Arial"/>
                <a:ea typeface="Arial"/>
                <a:cs typeface="Arial"/>
              </a:defRPr>
            </a:defPPr>
          </a:lstStyle>
          <a:p xmlns:a="http://schemas.openxmlformats.org/drawingml/2006/main">
            <a:pPr>
              <a:defRPr sz="1350" b="1">
                <a:solidFill>
                  <a:srgbClr val="70D1BB"/>
                </a:solidFill>
                <a:latin typeface="Arial"/>
                <a:ea typeface="Arial"/>
                <a:cs typeface="Arial"/>
              </a:defRPr>
            </a:pPr>
            <a:r>
              <a:rPr sz="1350" b="1">
                <a:solidFill>
                  <a:srgbClr val="70D1BB"/>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41B849DA-7DDF-479D-AFF5-3A10944A0CD4}"/>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D1BB"/>
                </a:solidFill>
                <a:latin typeface="Arial"/>
                <a:ea typeface="Arial"/>
                <a:cs typeface="Arial"/>
              </a:defRPr>
            </a:defPPr>
          </a:lstStyle>
          <a:p xmlns:a="http://schemas.openxmlformats.org/drawingml/2006/main">
            <a:pPr>
              <a:defRPr sz="1350" b="0">
                <a:solidFill>
                  <a:srgbClr val="70D1BB"/>
                </a:solidFill>
                <a:latin typeface="Arial"/>
                <a:ea typeface="Arial"/>
                <a:cs typeface="Arial"/>
              </a:defRPr>
            </a:pPr>
            <a:r>
              <a:rPr sz="1350" b="0">
                <a:solidFill>
                  <a:srgbClr val="70D1B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2D37909-87E0-4B45-AE50-9D8510B8D78E}"/>
              </a:ext>
            </a:extLst>
          </p:cNvPr>
          <p:cNvSpPr>
            <a:spLocks xmlns:a="http://schemas.openxmlformats.org/drawingml/2006/main" noGrp="1"/>
          </p:cNvSpPr>
          <p:nvPr/>
        </p:nvSpPr>
        <p:spPr>
          <a:xfrm xmlns:a="http://schemas.openxmlformats.org/drawingml/2006/main">
            <a:off x="609600" y="1143000"/>
            <a:ext cx="1057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Arial"/>
                <a:ea typeface="Arial"/>
                <a:cs typeface="Arial"/>
              </a:defRPr>
            </a:def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Tomorrow’s research</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starts ahead</a:t>
            </a:r>
          </a:p>
        </p:txBody>
      </p:sp>
      <p:sp>
        <p:nvSpPr>
          <p:cNvPr id="4" name="">
            <a:extLst xmlns:a="http://schemas.openxmlformats.org/drawingml/2006/main">
              <a:ext uri="{FF2B5EF4-FFF2-40B4-BE49-F238E27FC236}">
                <a16:creationId xmlns:a16="http://schemas.microsoft.com/office/drawing/2014/main" id="{E4BD1BC4-9DE7-4674-865A-976C760AE287}"/>
              </a:ext>
            </a:extLst>
          </p:cNvPr>
          <p:cNvSpPr>
            <a:spLocks xmlns:a="http://schemas.openxmlformats.org/drawingml/2006/main" noGrp="1"/>
          </p:cNvSpPr>
          <p:nvPr/>
        </p:nvSpPr>
        <p:spPr>
          <a:xfrm xmlns:a="http://schemas.openxmlformats.org/drawingml/2006/main">
            <a:off x="647700" y="33813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70D1BB"/>
                </a:solidFill>
                <a:latin typeface="Arial"/>
                <a:ea typeface="Arial"/>
                <a:cs typeface="Arial"/>
              </a:defRPr>
            </a:defPPr>
          </a:lstStyle>
          <a:p xmlns:a="http://schemas.openxmlformats.org/drawingml/2006/main">
            <a:pPr>
              <a:defRPr sz="3225" b="1">
                <a:solidFill>
                  <a:srgbClr val="70D1BB"/>
                </a:solidFill>
                <a:latin typeface="Arial"/>
                <a:ea typeface="Arial"/>
                <a:cs typeface="Arial"/>
              </a:defRPr>
            </a:pPr>
            <a:r>
              <a:rPr sz="3225" b="1">
                <a:solidFill>
                  <a:srgbClr val="70D1BB"/>
                </a:solidFill>
                <a:latin typeface="Arial"/>
                <a:ea typeface="Arial"/>
                <a:cs typeface="Arial"/>
              </a:rPr>
              <a:t>Saved evidence</a:t>
            </a:r>
          </a:p>
        </p:txBody>
      </p:sp>
      <p:sp>
        <p:nvSpPr>
          <p:cNvPr id="5" name="">
            <a:extLst xmlns:a="http://schemas.openxmlformats.org/drawingml/2006/main">
              <a:ext uri="{FF2B5EF4-FFF2-40B4-BE49-F238E27FC236}">
                <a16:creationId xmlns:a16="http://schemas.microsoft.com/office/drawing/2014/main" id="{D1910437-0424-42C6-9DDB-38AA34C94326}"/>
              </a:ext>
            </a:extLst>
          </p:cNvPr>
          <p:cNvSpPr>
            <a:spLocks xmlns:a="http://schemas.openxmlformats.org/drawingml/2006/main" noGrp="1"/>
          </p:cNvSpPr>
          <p:nvPr/>
        </p:nvSpPr>
        <p:spPr>
          <a:xfrm xmlns:a="http://schemas.openxmlformats.org/drawingml/2006/main">
            <a:off x="647700" y="4086225"/>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Notes, roles, shortlists and exports</a:t>
            </a:r>
          </a:p>
        </p:txBody>
      </p:sp>
      <p:sp>
        <p:nvSpPr>
          <p:cNvPr id="6" name="">
            <a:extLst xmlns:a="http://schemas.openxmlformats.org/drawingml/2006/main">
              <a:ext uri="{FF2B5EF4-FFF2-40B4-BE49-F238E27FC236}">
                <a16:creationId xmlns:a16="http://schemas.microsoft.com/office/drawing/2014/main" id="{44AE4CD0-04D5-40A4-8A2F-6ADCD291264C}"/>
              </a:ext>
            </a:extLst>
          </p:cNvPr>
          <p:cNvSpPr>
            <a:spLocks xmlns:a="http://schemas.openxmlformats.org/drawingml/2006/main" noGrp="1"/>
          </p:cNvSpPr>
          <p:nvPr/>
        </p:nvSpPr>
        <p:spPr>
          <a:xfrm xmlns:a="http://schemas.openxmlformats.org/drawingml/2006/main">
            <a:off x="647700" y="53625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5C9C5"/>
                </a:solidFill>
                <a:latin typeface="Arial"/>
                <a:ea typeface="Arial"/>
                <a:cs typeface="Arial"/>
              </a:defRPr>
            </a:defPPr>
          </a:lstStyle>
          <a:p xmlns:a="http://schemas.openxmlformats.org/drawingml/2006/main">
            <a:pPr>
              <a:defRPr sz="2025" b="0">
                <a:solidFill>
                  <a:srgbClr val="B5C9C5"/>
                </a:solidFill>
                <a:latin typeface="Arial"/>
                <a:ea typeface="Arial"/>
                <a:cs typeface="Arial"/>
              </a:defRPr>
            </a:pPr>
            <a:r>
              <a:rPr sz="2025" b="0">
                <a:solidFill>
                  <a:srgbClr val="B5C9C5"/>
                </a:solidFill>
                <a:latin typeface="Arial"/>
                <a:ea typeface="Arial"/>
                <a:cs typeface="Arial"/>
              </a:rPr>
              <a:t>SQLite persistence     Backups     Resumable jobs</a:t>
            </a:r>
          </a:p>
        </p:txBody>
      </p:sp>
    </p:spTree>
    <p:extLst>
      <p:ext uri="{BB962C8B-B14F-4D97-AF65-F5344CB8AC3E}">
        <p14:creationId xmlns:p14="http://schemas.microsoft.com/office/powerpoint/2010/main" val="1092506996"/>
      </p:ext>
    </p:extLst>
  </p:cSld>
</p:sld>
</file>

<file path=ppt/slides/slide8.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CC1F6D-EB0C-4242-9092-DD2B578317F4}"/>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4706E"/>
                </a:solidFill>
                <a:latin typeface="Arial"/>
                <a:ea typeface="Arial"/>
                <a:cs typeface="Arial"/>
              </a:defRPr>
            </a:defPPr>
          </a:lstStyle>
          <a:p xmlns:a="http://schemas.openxmlformats.org/drawingml/2006/main">
            <a:pPr>
              <a:defRPr sz="1350" b="1">
                <a:solidFill>
                  <a:srgbClr val="54706E"/>
                </a:solidFill>
                <a:latin typeface="Arial"/>
                <a:ea typeface="Arial"/>
                <a:cs typeface="Arial"/>
              </a:defRPr>
            </a:pPr>
            <a:r>
              <a:rPr sz="1350" b="1">
                <a:solidFill>
                  <a:srgbClr val="54706E"/>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0AC135F5-6302-424F-9C1E-DC8904B7D590}"/>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4706E"/>
                </a:solidFill>
                <a:latin typeface="Arial"/>
                <a:ea typeface="Arial"/>
                <a:cs typeface="Arial"/>
              </a:defRPr>
            </a:defPPr>
          </a:lstStyle>
          <a:p xmlns:a="http://schemas.openxmlformats.org/drawingml/2006/main">
            <a:pPr>
              <a:defRPr sz="1350" b="0">
                <a:solidFill>
                  <a:srgbClr val="54706E"/>
                </a:solidFill>
                <a:latin typeface="Arial"/>
                <a:ea typeface="Arial"/>
                <a:cs typeface="Arial"/>
              </a:defRPr>
            </a:pPr>
            <a:r>
              <a:rPr sz="1350" b="0">
                <a:solidFill>
                  <a:srgbClr val="54706E"/>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8107A01D-B08E-431A-834D-1375E293C4A8}"/>
              </a:ext>
            </a:extLst>
          </p:cNvPr>
          <p:cNvSpPr>
            <a:spLocks xmlns:a="http://schemas.openxmlformats.org/drawingml/2006/main" noGrp="1"/>
          </p:cNvSpPr>
          <p:nvPr/>
        </p:nvSpPr>
        <p:spPr>
          <a:xfrm xmlns:a="http://schemas.openxmlformats.org/drawingml/2006/main">
            <a:off x="609600" y="10001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42F35"/>
                </a:solidFill>
                <a:latin typeface="Arial"/>
                <a:ea typeface="Arial"/>
                <a:cs typeface="Arial"/>
              </a:defRPr>
            </a:defPPr>
          </a:lstStyle>
          <a:p xmlns:a="http://schemas.openxmlformats.org/drawingml/2006/main">
            <a:pPr>
              <a:defRPr sz="4050" b="1">
                <a:solidFill>
                  <a:srgbClr val="142F35"/>
                </a:solidFill>
                <a:latin typeface="Arial"/>
                <a:ea typeface="Arial"/>
                <a:cs typeface="Arial"/>
              </a:defRPr>
            </a:pPr>
            <a:r>
              <a:rPr sz="4050" b="1">
                <a:solidFill>
                  <a:srgbClr val="142F35"/>
                </a:solidFill>
                <a:latin typeface="Arial"/>
                <a:ea typeface="Arial"/>
                <a:cs typeface="Arial"/>
              </a:rPr>
              <a:t>AI interprets retained evidence</a:t>
            </a:r>
          </a:p>
        </p:txBody>
      </p:sp>
      <p:sp>
        <p:nvSpPr>
          <p:cNvPr id="4" name="">
            <a:extLst xmlns:a="http://schemas.openxmlformats.org/drawingml/2006/main">
              <a:ext uri="{FF2B5EF4-FFF2-40B4-BE49-F238E27FC236}">
                <a16:creationId xmlns:a16="http://schemas.microsoft.com/office/drawing/2014/main" id="{DE1FA391-4BBF-435E-86E6-0ACDA694E7F5}"/>
              </a:ext>
            </a:extLst>
          </p:cNvPr>
          <p:cNvSpPr>
            <a:spLocks xmlns:a="http://schemas.openxmlformats.org/drawingml/2006/main" noGrp="1"/>
          </p:cNvSpPr>
          <p:nvPr/>
        </p:nvSpPr>
        <p:spPr>
          <a:xfrm xmlns:a="http://schemas.openxmlformats.org/drawingml/2006/main">
            <a:off x="647700" y="2333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F35"/>
                </a:solidFill>
                <a:latin typeface="Arial"/>
                <a:ea typeface="Arial"/>
                <a:cs typeface="Arial"/>
              </a:defRPr>
            </a:defPPr>
          </a:lstStyle>
          <a:p xmlns:a="http://schemas.openxmlformats.org/drawingml/2006/main">
            <a:pPr>
              <a:defRPr sz="3000" b="1">
                <a:solidFill>
                  <a:srgbClr val="142F35"/>
                </a:solidFill>
                <a:latin typeface="Arial"/>
                <a:ea typeface="Arial"/>
                <a:cs typeface="Arial"/>
              </a:defRPr>
            </a:pPr>
            <a:r>
              <a:rPr sz="3000" b="1">
                <a:solidFill>
                  <a:srgbClr val="142F35"/>
                </a:solidFill>
                <a:latin typeface="Arial"/>
                <a:ea typeface="Arial"/>
                <a:cs typeface="Arial"/>
              </a:rPr>
              <a:t>Retrieve relevant records</a:t>
            </a:r>
          </a:p>
        </p:txBody>
      </p:sp>
      <p:sp>
        <p:nvSpPr>
          <p:cNvPr id="5" name="">
            <a:extLst xmlns:a="http://schemas.openxmlformats.org/drawingml/2006/main">
              <a:ext uri="{FF2B5EF4-FFF2-40B4-BE49-F238E27FC236}">
                <a16:creationId xmlns:a16="http://schemas.microsoft.com/office/drawing/2014/main" id="{66209475-C77E-4B80-B6B9-924D768C45E7}"/>
              </a:ext>
            </a:extLst>
          </p:cNvPr>
          <p:cNvSpPr>
            <a:spLocks xmlns:a="http://schemas.openxmlformats.org/drawingml/2006/main" noGrp="1"/>
          </p:cNvSpPr>
          <p:nvPr/>
        </p:nvSpPr>
        <p:spPr>
          <a:xfrm xmlns:a="http://schemas.openxmlformats.org/drawingml/2006/main">
            <a:off x="647700" y="31432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F35"/>
                </a:solidFill>
                <a:latin typeface="Arial"/>
                <a:ea typeface="Arial"/>
                <a:cs typeface="Arial"/>
              </a:defRPr>
            </a:defPPr>
          </a:lstStyle>
          <a:p xmlns:a="http://schemas.openxmlformats.org/drawingml/2006/main">
            <a:pPr>
              <a:defRPr sz="3000" b="1">
                <a:solidFill>
                  <a:srgbClr val="142F35"/>
                </a:solidFill>
                <a:latin typeface="Arial"/>
                <a:ea typeface="Arial"/>
                <a:cs typeface="Arial"/>
              </a:defRPr>
            </a:pPr>
            <a:r>
              <a:rPr sz="3000" b="1">
                <a:solidFill>
                  <a:srgbClr val="142F35"/>
                </a:solidFill>
                <a:latin typeface="Arial"/>
                <a:ea typeface="Arial"/>
                <a:cs typeface="Arial"/>
              </a:rPr>
              <a:t>Provide bounded evidence to the model</a:t>
            </a:r>
          </a:p>
        </p:txBody>
      </p:sp>
      <p:sp>
        <p:nvSpPr>
          <p:cNvPr id="6" name="">
            <a:extLst xmlns:a="http://schemas.openxmlformats.org/drawingml/2006/main">
              <a:ext uri="{FF2B5EF4-FFF2-40B4-BE49-F238E27FC236}">
                <a16:creationId xmlns:a16="http://schemas.microsoft.com/office/drawing/2014/main" id="{EFBB9E7B-650B-4027-BA7F-71F066269AC1}"/>
              </a:ext>
            </a:extLst>
          </p:cNvPr>
          <p:cNvSpPr>
            <a:spLocks xmlns:a="http://schemas.openxmlformats.org/drawingml/2006/main" noGrp="1"/>
          </p:cNvSpPr>
          <p:nvPr/>
        </p:nvSpPr>
        <p:spPr>
          <a:xfrm xmlns:a="http://schemas.openxmlformats.org/drawingml/2006/main">
            <a:off x="647700" y="39528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F35"/>
                </a:solidFill>
                <a:latin typeface="Arial"/>
                <a:ea typeface="Arial"/>
                <a:cs typeface="Arial"/>
              </a:defRPr>
            </a:defPPr>
          </a:lstStyle>
          <a:p xmlns:a="http://schemas.openxmlformats.org/drawingml/2006/main">
            <a:pPr>
              <a:defRPr sz="3000" b="1">
                <a:solidFill>
                  <a:srgbClr val="142F35"/>
                </a:solidFill>
                <a:latin typeface="Arial"/>
                <a:ea typeface="Arial"/>
                <a:cs typeface="Arial"/>
              </a:defRPr>
            </a:pPr>
            <a:r>
              <a:rPr sz="3000" b="1">
                <a:solidFill>
                  <a:srgbClr val="142F35"/>
                </a:solidFill>
                <a:latin typeface="Arial"/>
                <a:ea typeface="Arial"/>
                <a:cs typeface="Arial"/>
              </a:rPr>
              <a:t>Check references before showing the answer</a:t>
            </a:r>
          </a:p>
        </p:txBody>
      </p:sp>
      <p:sp>
        <p:nvSpPr>
          <p:cNvPr id="7" name="">
            <a:extLst xmlns:a="http://schemas.openxmlformats.org/drawingml/2006/main">
              <a:ext uri="{FF2B5EF4-FFF2-40B4-BE49-F238E27FC236}">
                <a16:creationId xmlns:a16="http://schemas.microsoft.com/office/drawing/2014/main" id="{881A5240-B149-4A9B-B9DE-1064846FFDFA}"/>
              </a:ext>
            </a:extLst>
          </p:cNvPr>
          <p:cNvSpPr>
            <a:spLocks xmlns:a="http://schemas.openxmlformats.org/drawingml/2006/main" noGrp="1"/>
          </p:cNvSpPr>
          <p:nvPr/>
        </p:nvSpPr>
        <p:spPr>
          <a:xfrm xmlns:a="http://schemas.openxmlformats.org/drawingml/2006/main">
            <a:off x="647700" y="52768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4706E"/>
                </a:solidFill>
                <a:latin typeface="Arial"/>
                <a:ea typeface="Arial"/>
                <a:cs typeface="Arial"/>
              </a:defRPr>
            </a:defPPr>
          </a:lstStyle>
          <a:p xmlns:a="http://schemas.openxmlformats.org/drawingml/2006/main">
            <a:pPr>
              <a:defRPr sz="2025" b="0">
                <a:solidFill>
                  <a:srgbClr val="54706E"/>
                </a:solidFill>
                <a:latin typeface="Arial"/>
                <a:ea typeface="Arial"/>
                <a:cs typeface="Arial"/>
              </a:defRPr>
            </a:pPr>
            <a:r>
              <a:rPr sz="2025" b="0">
                <a:solidFill>
                  <a:srgbClr val="54706E"/>
                </a:solidFill>
                <a:latin typeface="Arial"/>
                <a:ea typeface="Arial"/>
                <a:cs typeface="Arial"/>
              </a:rPr>
              <a:t>Local test: 0.5B model, about 12 seconds, then unloaded</a:t>
            </a:r>
          </a:p>
        </p:txBody>
      </p:sp>
      <p:sp>
        <p:nvSpPr>
          <p:cNvPr id="8" name="">
            <a:extLst xmlns:a="http://schemas.openxmlformats.org/drawingml/2006/main">
              <a:ext uri="{FF2B5EF4-FFF2-40B4-BE49-F238E27FC236}">
                <a16:creationId xmlns:a16="http://schemas.microsoft.com/office/drawing/2014/main" id="{1AC95B5D-D8B6-4873-8EF3-86E6B0ABF014}"/>
              </a:ext>
            </a:extLst>
          </p:cNvPr>
          <p:cNvSpPr>
            <a:spLocks xmlns:a="http://schemas.openxmlformats.org/drawingml/2006/main" noGrp="1"/>
          </p:cNvSpPr>
          <p:nvPr/>
        </p:nvSpPr>
        <p:spPr>
          <a:xfrm xmlns:a="http://schemas.openxmlformats.org/drawingml/2006/main">
            <a:off x="647700" y="58578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4706E"/>
                </a:solidFill>
                <a:latin typeface="Arial"/>
                <a:ea typeface="Arial"/>
                <a:cs typeface="Arial"/>
              </a:defRPr>
            </a:defPPr>
          </a:lstStyle>
          <a:p xmlns:a="http://schemas.openxmlformats.org/drawingml/2006/main">
            <a:pPr>
              <a:defRPr sz="1575" b="0">
                <a:solidFill>
                  <a:srgbClr val="54706E"/>
                </a:solidFill>
                <a:latin typeface="Arial"/>
                <a:ea typeface="Arial"/>
                <a:cs typeface="Arial"/>
              </a:defRPr>
            </a:pPr>
            <a:r>
              <a:rPr sz="1575" b="0">
                <a:solidFill>
                  <a:srgbClr val="54706E"/>
                </a:solidFill>
                <a:latin typeface="Arial"/>
                <a:ea typeface="Arial"/>
                <a:cs typeface="Arial"/>
              </a:rPr>
              <a:t>Experimental. One test misread evidence. Human review remains essential.</a:t>
            </a:r>
          </a:p>
        </p:txBody>
      </p:sp>
    </p:spTree>
    <p:extLst>
      <p:ext uri="{BB962C8B-B14F-4D97-AF65-F5344CB8AC3E}">
        <p14:creationId xmlns:p14="http://schemas.microsoft.com/office/powerpoint/2010/main" val="494002204"/>
      </p:ext>
    </p:extLst>
  </p:cSld>
</p:sld>
</file>

<file path=ppt/slides/slide9.xml><?xml version="1.0" encoding="utf-8"?>
<p:sld xmlns:p="http://schemas.openxmlformats.org/presentationml/2006/main">
  <p:cSld>
    <p:bg>
      <p:bgPr>
        <a:solidFill xmlns:a="http://schemas.openxmlformats.org/drawingml/2006/main">
          <a:srgbClr val="142F3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38E00A-3FAD-4422-8D55-BD467AB1919F}"/>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70D1BB"/>
                </a:solidFill>
                <a:latin typeface="Arial"/>
                <a:ea typeface="Arial"/>
                <a:cs typeface="Arial"/>
              </a:defRPr>
            </a:defPPr>
          </a:lstStyle>
          <a:p xmlns:a="http://schemas.openxmlformats.org/drawingml/2006/main">
            <a:pPr>
              <a:defRPr sz="1350" b="1">
                <a:solidFill>
                  <a:srgbClr val="70D1BB"/>
                </a:solidFill>
                <a:latin typeface="Arial"/>
                <a:ea typeface="Arial"/>
                <a:cs typeface="Arial"/>
              </a:defRPr>
            </a:pPr>
            <a:r>
              <a:rPr sz="1350" b="1">
                <a:solidFill>
                  <a:srgbClr val="70D1BB"/>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3C3251F2-1F38-46EA-A36B-B7E4AF053BDD}"/>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D1BB"/>
                </a:solidFill>
                <a:latin typeface="Arial"/>
                <a:ea typeface="Arial"/>
                <a:cs typeface="Arial"/>
              </a:defRPr>
            </a:defPPr>
          </a:lstStyle>
          <a:p xmlns:a="http://schemas.openxmlformats.org/drawingml/2006/main">
            <a:pPr>
              <a:defRPr sz="1350" b="0">
                <a:solidFill>
                  <a:srgbClr val="70D1BB"/>
                </a:solidFill>
                <a:latin typeface="Arial"/>
                <a:ea typeface="Arial"/>
                <a:cs typeface="Arial"/>
              </a:defRPr>
            </a:pPr>
            <a:r>
              <a:rPr sz="1350" b="0">
                <a:solidFill>
                  <a:srgbClr val="70D1B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03AB4464-4960-48A6-8F44-BA438A251141}"/>
              </a:ext>
            </a:extLst>
          </p:cNvPr>
          <p:cNvSpPr>
            <a:spLocks xmlns:a="http://schemas.openxmlformats.org/drawingml/2006/main" noGrp="1"/>
          </p:cNvSpPr>
          <p:nvPr/>
        </p:nvSpPr>
        <p:spPr>
          <a:xfrm xmlns:a="http://schemas.openxmlformats.org/drawingml/2006/main">
            <a:off x="609600" y="10287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FFFFFF"/>
                </a:solidFill>
                <a:latin typeface="Arial"/>
                <a:ea typeface="Arial"/>
                <a:cs typeface="Arial"/>
              </a:defRPr>
            </a:defPPr>
          </a:lstStyle>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We measured the retrieval</a:t>
            </a:r>
          </a:p>
        </p:txBody>
      </p:sp>
      <p:sp>
        <p:nvSpPr>
          <p:cNvPr id="4" name="">
            <a:extLst xmlns:a="http://schemas.openxmlformats.org/drawingml/2006/main">
              <a:ext uri="{FF2B5EF4-FFF2-40B4-BE49-F238E27FC236}">
                <a16:creationId xmlns:a16="http://schemas.microsoft.com/office/drawing/2014/main" id="{AF52D21A-11C0-4135-AFFE-9F7FF67A75FF}"/>
              </a:ext>
            </a:extLst>
          </p:cNvPr>
          <p:cNvSpPr>
            <a:spLocks xmlns:a="http://schemas.openxmlformats.org/drawingml/2006/main" noGrp="1"/>
          </p:cNvSpPr>
          <p:nvPr/>
        </p:nvSpPr>
        <p:spPr>
          <a:xfrm xmlns:a="http://schemas.openxmlformats.org/drawingml/2006/main">
            <a:off x="609600" y="2476500"/>
            <a:ext cx="4667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100" b="1">
                <a:solidFill>
                  <a:srgbClr val="70D1BB"/>
                </a:solidFill>
                <a:latin typeface="Arial"/>
                <a:ea typeface="Arial"/>
                <a:cs typeface="Arial"/>
              </a:defRPr>
            </a:defPPr>
          </a:lstStyle>
          <a:p xmlns:a="http://schemas.openxmlformats.org/drawingml/2006/main">
            <a:pPr>
              <a:defRPr sz="8100" b="1">
                <a:solidFill>
                  <a:srgbClr val="70D1BB"/>
                </a:solidFill>
                <a:latin typeface="Arial"/>
                <a:ea typeface="Arial"/>
                <a:cs typeface="Arial"/>
              </a:defRPr>
            </a:pPr>
            <a:r>
              <a:rPr sz="8100" b="1">
                <a:solidFill>
                  <a:srgbClr val="70D1BB"/>
                </a:solidFill>
                <a:latin typeface="Arial"/>
                <a:ea typeface="Arial"/>
                <a:cs typeface="Arial"/>
              </a:rPr>
              <a:t>4 / 4</a:t>
            </a:r>
          </a:p>
        </p:txBody>
      </p:sp>
      <p:sp>
        <p:nvSpPr>
          <p:cNvPr id="5" name="">
            <a:extLst xmlns:a="http://schemas.openxmlformats.org/drawingml/2006/main">
              <a:ext uri="{FF2B5EF4-FFF2-40B4-BE49-F238E27FC236}">
                <a16:creationId xmlns:a16="http://schemas.microsoft.com/office/drawing/2014/main" id="{44DCAC77-0283-4FDC-859B-B64C0A88DC21}"/>
              </a:ext>
            </a:extLst>
          </p:cNvPr>
          <p:cNvSpPr>
            <a:spLocks xmlns:a="http://schemas.openxmlformats.org/drawingml/2006/main" noGrp="1"/>
          </p:cNvSpPr>
          <p:nvPr/>
        </p:nvSpPr>
        <p:spPr>
          <a:xfrm xmlns:a="http://schemas.openxmlformats.org/drawingml/2006/main">
            <a:off x="647700" y="390525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exact expected result sets</a:t>
            </a:r>
          </a:p>
        </p:txBody>
      </p:sp>
      <p:sp>
        <p:nvSpPr>
          <p:cNvPr id="6" name="">
            <a:extLst xmlns:a="http://schemas.openxmlformats.org/drawingml/2006/main">
              <a:ext uri="{FF2B5EF4-FFF2-40B4-BE49-F238E27FC236}">
                <a16:creationId xmlns:a16="http://schemas.microsoft.com/office/drawing/2014/main" id="{64F5EC70-90FF-4E98-AED0-AF304FF75E52}"/>
              </a:ext>
            </a:extLst>
          </p:cNvPr>
          <p:cNvSpPr>
            <a:spLocks xmlns:a="http://schemas.openxmlformats.org/drawingml/2006/main" noGrp="1"/>
          </p:cNvSpPr>
          <p:nvPr/>
        </p:nvSpPr>
        <p:spPr>
          <a:xfrm xmlns:a="http://schemas.openxmlformats.org/drawingml/2006/main">
            <a:off x="6667500" y="2476500"/>
            <a:ext cx="4667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100" b="1">
                <a:solidFill>
                  <a:srgbClr val="70D1BB"/>
                </a:solidFill>
                <a:latin typeface="Arial"/>
                <a:ea typeface="Arial"/>
                <a:cs typeface="Arial"/>
              </a:defRPr>
            </a:defPPr>
          </a:lstStyle>
          <a:p xmlns:a="http://schemas.openxmlformats.org/drawingml/2006/main">
            <a:pPr>
              <a:defRPr sz="8100" b="1">
                <a:solidFill>
                  <a:srgbClr val="70D1BB"/>
                </a:solidFill>
                <a:latin typeface="Arial"/>
                <a:ea typeface="Arial"/>
                <a:cs typeface="Arial"/>
              </a:defRPr>
            </a:pPr>
            <a:r>
              <a:rPr sz="8100" b="1">
                <a:solidFill>
                  <a:srgbClr val="70D1BB"/>
                </a:solidFill>
                <a:latin typeface="Arial"/>
                <a:ea typeface="Arial"/>
                <a:cs typeface="Arial"/>
              </a:rPr>
              <a:t>83%</a:t>
            </a:r>
          </a:p>
        </p:txBody>
      </p:sp>
      <p:sp>
        <p:nvSpPr>
          <p:cNvPr id="7" name="">
            <a:extLst xmlns:a="http://schemas.openxmlformats.org/drawingml/2006/main">
              <a:ext uri="{FF2B5EF4-FFF2-40B4-BE49-F238E27FC236}">
                <a16:creationId xmlns:a16="http://schemas.microsoft.com/office/drawing/2014/main" id="{C6CDD1E6-1B27-42DC-AE07-523A4C1496B6}"/>
              </a:ext>
            </a:extLst>
          </p:cNvPr>
          <p:cNvSpPr>
            <a:spLocks xmlns:a="http://schemas.openxmlformats.org/drawingml/2006/main" noGrp="1"/>
          </p:cNvSpPr>
          <p:nvPr/>
        </p:nvSpPr>
        <p:spPr>
          <a:xfrm xmlns:a="http://schemas.openxmlformats.org/drawingml/2006/main">
            <a:off x="6705600" y="39052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fewer context characters</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in one office-prospect test</a:t>
            </a:r>
          </a:p>
        </p:txBody>
      </p:sp>
      <p:sp>
        <p:nvSpPr>
          <p:cNvPr id="8" name="">
            <a:extLst xmlns:a="http://schemas.openxmlformats.org/drawingml/2006/main">
              <a:ext uri="{FF2B5EF4-FFF2-40B4-BE49-F238E27FC236}">
                <a16:creationId xmlns:a16="http://schemas.microsoft.com/office/drawing/2014/main" id="{41D17AED-933C-4B8D-9AFA-93F232CB1792}"/>
              </a:ext>
            </a:extLst>
          </p:cNvPr>
          <p:cNvSpPr>
            <a:spLocks xmlns:a="http://schemas.openxmlformats.org/drawingml/2006/main" noGrp="1"/>
          </p:cNvSpPr>
          <p:nvPr/>
        </p:nvSpPr>
        <p:spPr>
          <a:xfrm xmlns:a="http://schemas.openxmlformats.org/drawingml/2006/main">
            <a:off x="647700" y="580072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5C9C5"/>
                </a:solidFill>
                <a:latin typeface="Arial"/>
                <a:ea typeface="Arial"/>
                <a:cs typeface="Arial"/>
              </a:defRPr>
            </a:defPPr>
          </a:lstStyle>
          <a:p xmlns:a="http://schemas.openxmlformats.org/drawingml/2006/main">
            <a:pPr>
              <a:defRPr sz="1650" b="0">
                <a:solidFill>
                  <a:srgbClr val="B5C9C5"/>
                </a:solidFill>
                <a:latin typeface="Arial"/>
                <a:ea typeface="Arial"/>
                <a:cs typeface="Arial"/>
              </a:defRPr>
            </a:pPr>
            <a:r>
              <a:rPr sz="1650" b="0">
                <a:solidFill>
                  <a:srgbClr val="B5C9C5"/>
                </a:solidFill>
                <a:latin typeface="Arial"/>
                <a:ea typeface="Arial"/>
                <a:cs typeface="Arial"/>
              </a:rPr>
              <a:t>Four synthetic scenarios. Character reduction is not measured token savings.</a:t>
            </a:r>
          </a:p>
        </p:txBody>
      </p:sp>
    </p:spTree>
    <p:extLst>
      <p:ext uri="{BB962C8B-B14F-4D97-AF65-F5344CB8AC3E}">
        <p14:creationId xmlns:p14="http://schemas.microsoft.com/office/powerpoint/2010/main" val="792304102"/>
      </p:ext>
    </p:extLst>
  </p:cSld>
</p:sld>
</file>

<file path=ppt/slides/slide10.xml><?xml version="1.0" encoding="utf-8"?>
<p:sld xmlns:p="http://schemas.openxmlformats.org/presentationml/2006/main">
  <p:cSld>
    <p:bg>
      <p:bgPr>
        <a:solidFill xmlns:a="http://schemas.openxmlformats.org/drawingml/2006/main">
          <a:srgbClr val="142F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CA988A-C846-4774-8FF8-328ACC692985}"/>
              </a:ext>
            </a:extLst>
          </p:cNvPr>
          <p:cNvSpPr>
            <a:spLocks xmlns:a="http://schemas.openxmlformats.org/drawingml/2006/main" noGrp="1"/>
          </p:cNvSpPr>
          <p:nvPr/>
        </p:nvSpPr>
        <p:spPr>
          <a:xfrm xmlns:a="http://schemas.openxmlformats.org/drawingml/2006/main">
            <a:off x="609600" y="314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70D1BB"/>
                </a:solidFill>
                <a:latin typeface="Arial"/>
                <a:ea typeface="Arial"/>
                <a:cs typeface="Arial"/>
              </a:defRPr>
            </a:defPPr>
          </a:lstStyle>
          <a:p xmlns:a="http://schemas.openxmlformats.org/drawingml/2006/main">
            <a:pPr>
              <a:defRPr sz="1350" b="1">
                <a:solidFill>
                  <a:srgbClr val="70D1BB"/>
                </a:solidFill>
                <a:latin typeface="Arial"/>
                <a:ea typeface="Arial"/>
                <a:cs typeface="Arial"/>
              </a:defRPr>
            </a:pPr>
            <a:r>
              <a:rPr sz="1350" b="1">
                <a:solidFill>
                  <a:srgbClr val="70D1BB"/>
                </a:solidFill>
                <a:latin typeface="Arial"/>
                <a:ea typeface="Arial"/>
                <a:cs typeface="Arial"/>
              </a:rPr>
              <a:t>PITTSBURGH IQ</a:t>
            </a:r>
          </a:p>
        </p:txBody>
      </p:sp>
      <p:sp>
        <p:nvSpPr>
          <p:cNvPr id="2" name="">
            <a:extLst xmlns:a="http://schemas.openxmlformats.org/drawingml/2006/main">
              <a:ext uri="{FF2B5EF4-FFF2-40B4-BE49-F238E27FC236}">
                <a16:creationId xmlns:a16="http://schemas.microsoft.com/office/drawing/2014/main" id="{ECD883A0-6FEB-4735-9637-7A27C5B78797}"/>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0D1BB"/>
                </a:solidFill>
                <a:latin typeface="Arial"/>
                <a:ea typeface="Arial"/>
                <a:cs typeface="Arial"/>
              </a:defRPr>
            </a:defPPr>
          </a:lstStyle>
          <a:p xmlns:a="http://schemas.openxmlformats.org/drawingml/2006/main">
            <a:pPr>
              <a:defRPr sz="1350" b="0">
                <a:solidFill>
                  <a:srgbClr val="70D1BB"/>
                </a:solidFill>
                <a:latin typeface="Arial"/>
                <a:ea typeface="Arial"/>
                <a:cs typeface="Arial"/>
              </a:defRPr>
            </a:pPr>
            <a:r>
              <a:rPr sz="1350" b="0">
                <a:solidFill>
                  <a:srgbClr val="70D1BB"/>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D6F21252-0893-4F88-8FEA-72E302789230}"/>
              </a:ext>
            </a:extLst>
          </p:cNvPr>
          <p:cNvSpPr>
            <a:spLocks xmlns:a="http://schemas.openxmlformats.org/drawingml/2006/main" noGrp="1"/>
          </p:cNvSpPr>
          <p:nvPr/>
        </p:nvSpPr>
        <p:spPr>
          <a:xfrm xmlns:a="http://schemas.openxmlformats.org/drawingml/2006/main">
            <a:off x="609600" y="1352550"/>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FFFFFF"/>
                </a:solidFill>
                <a:latin typeface="Arial"/>
                <a:ea typeface="Arial"/>
                <a:cs typeface="Arial"/>
              </a:defRPr>
            </a:defPPr>
          </a:lstStyle>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The next conversation</a:t>
            </a:r>
          </a:p>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starts informed</a:t>
            </a:r>
          </a:p>
        </p:txBody>
      </p:sp>
      <p:sp>
        <p:nvSpPr>
          <p:cNvPr id="4" name="">
            <a:extLst xmlns:a="http://schemas.openxmlformats.org/drawingml/2006/main">
              <a:ext uri="{FF2B5EF4-FFF2-40B4-BE49-F238E27FC236}">
                <a16:creationId xmlns:a16="http://schemas.microsoft.com/office/drawing/2014/main" id="{97FF358D-4B17-4991-87F0-F581CD02BD10}"/>
              </a:ext>
            </a:extLst>
          </p:cNvPr>
          <p:cNvSpPr>
            <a:spLocks xmlns:a="http://schemas.openxmlformats.org/drawingml/2006/main" noGrp="1"/>
          </p:cNvSpPr>
          <p:nvPr/>
        </p:nvSpPr>
        <p:spPr>
          <a:xfrm xmlns:a="http://schemas.openxmlformats.org/drawingml/2006/main">
            <a:off x="647700" y="39052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70D1BB"/>
                </a:solidFill>
                <a:latin typeface="Arial"/>
                <a:ea typeface="Arial"/>
                <a:cs typeface="Arial"/>
              </a:defRPr>
            </a:defPPr>
          </a:lstStyle>
          <a:p xmlns:a="http://schemas.openxmlformats.org/drawingml/2006/main">
            <a:pPr>
              <a:defRPr sz="2775" b="0">
                <a:solidFill>
                  <a:srgbClr val="70D1BB"/>
                </a:solidFill>
                <a:latin typeface="Arial"/>
                <a:ea typeface="Arial"/>
                <a:cs typeface="Arial"/>
              </a:defRPr>
            </a:pPr>
            <a:r>
              <a:rPr sz="2775" b="0">
                <a:solidFill>
                  <a:srgbClr val="70D1BB"/>
                </a:solidFill>
                <a:latin typeface="Arial"/>
                <a:ea typeface="Arial"/>
                <a:cs typeface="Arial"/>
              </a:rPr>
              <a:t>Next: a 20-organization pilot with Reece</a:t>
            </a:r>
          </a:p>
        </p:txBody>
      </p:sp>
      <p:sp>
        <p:nvSpPr>
          <p:cNvPr id="5" name="">
            <a:extLst xmlns:a="http://schemas.openxmlformats.org/drawingml/2006/main">
              <a:ext uri="{FF2B5EF4-FFF2-40B4-BE49-F238E27FC236}">
                <a16:creationId xmlns:a16="http://schemas.microsoft.com/office/drawing/2014/main" id="{FCB129F9-B526-437B-8972-62E299BFE06A}"/>
              </a:ext>
            </a:extLst>
          </p:cNvPr>
          <p:cNvSpPr>
            <a:spLocks xmlns:a="http://schemas.openxmlformats.org/drawingml/2006/main" noGrp="1"/>
          </p:cNvSpPr>
          <p:nvPr/>
        </p:nvSpPr>
        <p:spPr>
          <a:xfrm xmlns:a="http://schemas.openxmlformats.org/drawingml/2006/main">
            <a:off x="647700" y="46958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FFFF"/>
                </a:solidFill>
                <a:latin typeface="Arial"/>
                <a:ea typeface="Arial"/>
                <a:cs typeface="Arial"/>
              </a:defRPr>
            </a:defPPr>
          </a:lstStyle>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Measure relevance and research time</a:t>
            </a:r>
          </a:p>
        </p:txBody>
      </p:sp>
      <p:sp>
        <p:nvSpPr>
          <p:cNvPr id="6" name="">
            <a:extLst xmlns:a="http://schemas.openxmlformats.org/drawingml/2006/main">
              <a:ext uri="{FF2B5EF4-FFF2-40B4-BE49-F238E27FC236}">
                <a16:creationId xmlns:a16="http://schemas.microsoft.com/office/drawing/2014/main" id="{E3C99FDD-E429-46BA-B3DE-BD122F24EA29}"/>
              </a:ext>
            </a:extLst>
          </p:cNvPr>
          <p:cNvSpPr>
            <a:spLocks xmlns:a="http://schemas.openxmlformats.org/drawingml/2006/main" noGrp="1"/>
          </p:cNvSpPr>
          <p:nvPr/>
        </p:nvSpPr>
        <p:spPr>
          <a:xfrm xmlns:a="http://schemas.openxmlformats.org/drawingml/2006/main">
            <a:off x="647700" y="5715000"/>
            <a:ext cx="762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5C9C5"/>
                </a:solidFill>
                <a:latin typeface="Arial"/>
                <a:ea typeface="Arial"/>
                <a:cs typeface="Arial"/>
              </a:defRPr>
            </a:defPPr>
          </a:lstStyle>
          <a:p xmlns:a="http://schemas.openxmlformats.org/drawingml/2006/main">
            <a:pPr>
              <a:defRPr sz="1650" b="0">
                <a:solidFill>
                  <a:srgbClr val="B5C9C5"/>
                </a:solidFill>
                <a:latin typeface="Arial"/>
                <a:ea typeface="Arial"/>
                <a:cs typeface="Arial"/>
              </a:defRPr>
            </a:pPr>
            <a:r>
              <a:rPr sz="1650" b="0">
                <a:solidFill>
                  <a:srgbClr val="B5C9C5"/>
                </a:solidFill>
                <a:latin typeface="Arial"/>
                <a:ea typeface="Arial"/>
                <a:cs typeface="Arial"/>
              </a:rPr>
              <a:t>Proposed next step</a:t>
            </a:r>
          </a:p>
        </p:txBody>
      </p:sp>
    </p:spTree>
    <p:extLst>
      <p:ext uri="{BB962C8B-B14F-4D97-AF65-F5344CB8AC3E}">
        <p14:creationId xmlns:p14="http://schemas.microsoft.com/office/powerpoint/2010/main" val="19095532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2026-10-15T22:34:02.2660000Z</dcterms:created>
  <dcterms:modified xsi:type="dcterms:W3CDTF">2026-10-15T22:34:02.2660000Z</dcterms:modified>
</coreProperties>
</file>